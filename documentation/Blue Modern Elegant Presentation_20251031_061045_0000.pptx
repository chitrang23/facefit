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Times New Roman Bold" charset="1" panose="02020803070505020304"/>
      <p:regular r:id="rId23"/>
    </p:embeddedFont>
    <p:embeddedFont>
      <p:font typeface="Times New Roman" charset="1" panose="020206030504050203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7.png" Type="http://schemas.openxmlformats.org/officeDocument/2006/relationships/image"/><Relationship Id="rId8" Target="../embeddings/oleObject1.bin" Type="http://schemas.openxmlformats.org/officeDocument/2006/relationships/oleObjec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8.png" Type="http://schemas.openxmlformats.org/officeDocument/2006/relationships/image"/><Relationship Id="rId8" Target="../embeddings/oleObject2.bin" Type="http://schemas.openxmlformats.org/officeDocument/2006/relationships/oleObjec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https://www.youtube.com/watch?v=swSp8ksR2Q" TargetMode="External" Type="http://schemas.openxmlformats.org/officeDocument/2006/relationships/hyperlink"/><Relationship Id="rId4" Target="https://www.youtube.com/watch?v=VjDsJ2piXg8" TargetMode="External" Type="http://schemas.openxmlformats.org/officeDocument/2006/relationships/hyperlink"/><Relationship Id="rId5" Target="https://www.youtube.com/watch?v=azvA2Bn2aXw" TargetMode="External" Type="http://schemas.openxmlformats.org/officeDocument/2006/relationships/hyperlink"/><Relationship Id="rId6" Target="https://www.youtube.com/watch?v=C94pTaKoLbU"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124693" y="3783859"/>
            <a:ext cx="2038615" cy="2511663"/>
          </a:xfrm>
          <a:custGeom>
            <a:avLst/>
            <a:gdLst/>
            <a:ahLst/>
            <a:cxnLst/>
            <a:rect r="r" b="b" t="t" l="l"/>
            <a:pathLst>
              <a:path h="2511663" w="2038615">
                <a:moveTo>
                  <a:pt x="0" y="0"/>
                </a:moveTo>
                <a:lnTo>
                  <a:pt x="2038614" y="0"/>
                </a:lnTo>
                <a:lnTo>
                  <a:pt x="2038614" y="2511664"/>
                </a:lnTo>
                <a:lnTo>
                  <a:pt x="0" y="2511664"/>
                </a:lnTo>
                <a:lnTo>
                  <a:pt x="0" y="0"/>
                </a:lnTo>
                <a:close/>
              </a:path>
            </a:pathLst>
          </a:custGeom>
          <a:blipFill>
            <a:blip r:embed="rId5"/>
            <a:stretch>
              <a:fillRect l="0" t="0" r="0" b="0"/>
            </a:stretch>
          </a:blipFill>
        </p:spPr>
      </p:sp>
      <p:sp>
        <p:nvSpPr>
          <p:cNvPr name="TextBox 6" id="6"/>
          <p:cNvSpPr txBox="true"/>
          <p:nvPr/>
        </p:nvSpPr>
        <p:spPr>
          <a:xfrm rot="0">
            <a:off x="39737" y="192024"/>
            <a:ext cx="18208526" cy="2688330"/>
          </a:xfrm>
          <a:prstGeom prst="rect">
            <a:avLst/>
          </a:prstGeom>
        </p:spPr>
        <p:txBody>
          <a:bodyPr anchor="t" rtlCol="false" tIns="0" lIns="0" bIns="0" rIns="0">
            <a:spAutoFit/>
          </a:bodyPr>
          <a:lstStyle/>
          <a:p>
            <a:pPr algn="ctr">
              <a:lnSpc>
                <a:spcPts val="3549"/>
              </a:lnSpc>
              <a:spcBef>
                <a:spcPct val="0"/>
              </a:spcBef>
            </a:pPr>
            <a:r>
              <a:rPr lang="en-US" b="true" sz="2535">
                <a:solidFill>
                  <a:srgbClr val="000000"/>
                </a:solidFill>
                <a:latin typeface="Times New Roman Bold"/>
                <a:ea typeface="Times New Roman Bold"/>
                <a:cs typeface="Times New Roman Bold"/>
                <a:sym typeface="Times New Roman Bold"/>
              </a:rPr>
              <a:t>DEPARTMENT OF COMPUTER SCIENCE &amp; ENGINEERING IN ARTIFICIAL INTELLIGENCE AND MACHINE LEARNING</a:t>
            </a:r>
          </a:p>
          <a:p>
            <a:pPr algn="ctr">
              <a:lnSpc>
                <a:spcPts val="3549"/>
              </a:lnSpc>
              <a:spcBef>
                <a:spcPct val="0"/>
              </a:spcBef>
            </a:pPr>
          </a:p>
          <a:p>
            <a:pPr algn="ctr">
              <a:lnSpc>
                <a:spcPts val="3549"/>
              </a:lnSpc>
              <a:spcBef>
                <a:spcPct val="0"/>
              </a:spcBef>
            </a:pPr>
            <a:r>
              <a:rPr lang="en-US" b="true" sz="2535">
                <a:solidFill>
                  <a:srgbClr val="000000"/>
                </a:solidFill>
                <a:latin typeface="Times New Roman Bold"/>
                <a:ea typeface="Times New Roman Bold"/>
                <a:cs typeface="Times New Roman Bold"/>
                <a:sym typeface="Times New Roman Bold"/>
              </a:rPr>
              <a:t>PRESENTATION </a:t>
            </a:r>
          </a:p>
          <a:p>
            <a:pPr algn="ctr">
              <a:lnSpc>
                <a:spcPts val="3549"/>
              </a:lnSpc>
              <a:spcBef>
                <a:spcPct val="0"/>
              </a:spcBef>
            </a:pPr>
            <a:r>
              <a:rPr lang="en-US" b="true" sz="2535">
                <a:solidFill>
                  <a:srgbClr val="000000"/>
                </a:solidFill>
                <a:latin typeface="Times New Roman Bold"/>
                <a:ea typeface="Times New Roman Bold"/>
                <a:cs typeface="Times New Roman Bold"/>
                <a:sym typeface="Times New Roman Bold"/>
              </a:rPr>
              <a:t>ON</a:t>
            </a:r>
          </a:p>
          <a:p>
            <a:pPr algn="ctr">
              <a:lnSpc>
                <a:spcPts val="3549"/>
              </a:lnSpc>
              <a:spcBef>
                <a:spcPct val="0"/>
              </a:spcBef>
            </a:pPr>
            <a:r>
              <a:rPr lang="en-US" b="true" sz="2535">
                <a:solidFill>
                  <a:srgbClr val="000000"/>
                </a:solidFill>
                <a:latin typeface="Times New Roman Bold"/>
                <a:ea typeface="Times New Roman Bold"/>
                <a:cs typeface="Times New Roman Bold"/>
                <a:sym typeface="Times New Roman Bold"/>
              </a:rPr>
              <a:t>TOPIC NAME: FACEFIT ADVISOR AI STYLE AND</a:t>
            </a:r>
          </a:p>
          <a:p>
            <a:pPr algn="ctr">
              <a:lnSpc>
                <a:spcPts val="3549"/>
              </a:lnSpc>
              <a:spcBef>
                <a:spcPct val="0"/>
              </a:spcBef>
            </a:pPr>
            <a:r>
              <a:rPr lang="en-US" b="true" sz="2535">
                <a:solidFill>
                  <a:srgbClr val="000000"/>
                </a:solidFill>
                <a:latin typeface="Times New Roman Bold"/>
                <a:ea typeface="Times New Roman Bold"/>
                <a:cs typeface="Times New Roman Bold"/>
                <a:sym typeface="Times New Roman Bold"/>
              </a:rPr>
              <a:t> ACCESSORIES SUGGESTIONS</a:t>
            </a:r>
          </a:p>
        </p:txBody>
      </p:sp>
      <p:sp>
        <p:nvSpPr>
          <p:cNvPr name="TextBox 7" id="7"/>
          <p:cNvSpPr txBox="true"/>
          <p:nvPr/>
        </p:nvSpPr>
        <p:spPr>
          <a:xfrm rot="0">
            <a:off x="764084" y="7694824"/>
            <a:ext cx="16759833" cy="1399915"/>
          </a:xfrm>
          <a:prstGeom prst="rect">
            <a:avLst/>
          </a:prstGeom>
        </p:spPr>
        <p:txBody>
          <a:bodyPr anchor="t" rtlCol="false" tIns="0" lIns="0" bIns="0" rIns="0">
            <a:spAutoFit/>
          </a:bodyPr>
          <a:lstStyle/>
          <a:p>
            <a:pPr algn="ctr">
              <a:lnSpc>
                <a:spcPts val="3689"/>
              </a:lnSpc>
              <a:spcBef>
                <a:spcPct val="0"/>
              </a:spcBef>
            </a:pPr>
            <a:r>
              <a:rPr lang="en-US" b="true" sz="2635">
                <a:solidFill>
                  <a:srgbClr val="000000"/>
                </a:solidFill>
                <a:latin typeface="Times New Roman Bold"/>
                <a:ea typeface="Times New Roman Bold"/>
                <a:cs typeface="Times New Roman Bold"/>
                <a:sym typeface="Times New Roman Bold"/>
              </a:rPr>
              <a:t>55.SHRUTI PENDNEKAR                                                                                                             62.CHITRANG SAWANT</a:t>
            </a:r>
          </a:p>
          <a:p>
            <a:pPr algn="ctr">
              <a:lnSpc>
                <a:spcPts val="3689"/>
              </a:lnSpc>
              <a:spcBef>
                <a:spcPct val="0"/>
              </a:spcBef>
            </a:pPr>
          </a:p>
          <a:p>
            <a:pPr algn="ctr">
              <a:lnSpc>
                <a:spcPts val="3689"/>
              </a:lnSpc>
              <a:spcBef>
                <a:spcPct val="0"/>
              </a:spcBef>
            </a:pPr>
            <a:r>
              <a:rPr lang="en-US" b="true" sz="2635">
                <a:solidFill>
                  <a:srgbClr val="000000"/>
                </a:solidFill>
                <a:latin typeface="Times New Roman Bold"/>
                <a:ea typeface="Times New Roman Bold"/>
                <a:cs typeface="Times New Roman Bold"/>
                <a:sym typeface="Times New Roman Bold"/>
              </a:rPr>
              <a:t> 63.LABH SAWANT                                                                                                                                 66.SNEHA SHINDE</a:t>
            </a:r>
          </a:p>
        </p:txBody>
      </p:sp>
      <p:sp>
        <p:nvSpPr>
          <p:cNvPr name="TextBox 8" id="8"/>
          <p:cNvSpPr txBox="true"/>
          <p:nvPr/>
        </p:nvSpPr>
        <p:spPr>
          <a:xfrm rot="0">
            <a:off x="7391921" y="9028065"/>
            <a:ext cx="3504158" cy="933190"/>
          </a:xfrm>
          <a:prstGeom prst="rect">
            <a:avLst/>
          </a:prstGeom>
        </p:spPr>
        <p:txBody>
          <a:bodyPr anchor="t" rtlCol="false" tIns="0" lIns="0" bIns="0" rIns="0">
            <a:spAutoFit/>
          </a:bodyPr>
          <a:lstStyle/>
          <a:p>
            <a:pPr algn="ctr">
              <a:lnSpc>
                <a:spcPts val="3689"/>
              </a:lnSpc>
              <a:spcBef>
                <a:spcPct val="0"/>
              </a:spcBef>
            </a:pPr>
            <a:r>
              <a:rPr lang="en-US" b="true" sz="2635">
                <a:solidFill>
                  <a:srgbClr val="000000"/>
                </a:solidFill>
                <a:latin typeface="Times New Roman Bold"/>
                <a:ea typeface="Times New Roman Bold"/>
                <a:cs typeface="Times New Roman Bold"/>
                <a:sym typeface="Times New Roman Bold"/>
              </a:rPr>
              <a:t> GUIDED BY: </a:t>
            </a:r>
          </a:p>
          <a:p>
            <a:pPr algn="ctr">
              <a:lnSpc>
                <a:spcPts val="3689"/>
              </a:lnSpc>
              <a:spcBef>
                <a:spcPct val="0"/>
              </a:spcBef>
            </a:pPr>
            <a:r>
              <a:rPr lang="en-US" b="true" sz="2635">
                <a:solidFill>
                  <a:srgbClr val="000000"/>
                </a:solidFill>
                <a:latin typeface="Times New Roman Bold"/>
                <a:ea typeface="Times New Roman Bold"/>
                <a:cs typeface="Times New Roman Bold"/>
                <a:sym typeface="Times New Roman Bold"/>
              </a:rPr>
              <a:t>PROF. AMITA RAMAN</a:t>
            </a:r>
          </a:p>
        </p:txBody>
      </p:sp>
      <p:sp>
        <p:nvSpPr>
          <p:cNvPr name="TextBox 9" id="9"/>
          <p:cNvSpPr txBox="true"/>
          <p:nvPr/>
        </p:nvSpPr>
        <p:spPr>
          <a:xfrm rot="0">
            <a:off x="7780660" y="6762002"/>
            <a:ext cx="2726680" cy="466344"/>
          </a:xfrm>
          <a:prstGeom prst="rect">
            <a:avLst/>
          </a:prstGeom>
        </p:spPr>
        <p:txBody>
          <a:bodyPr anchor="t" rtlCol="false" tIns="0" lIns="0" bIns="0" rIns="0">
            <a:spAutoFit/>
          </a:bodyPr>
          <a:lstStyle/>
          <a:p>
            <a:pPr algn="ctr">
              <a:lnSpc>
                <a:spcPts val="3696"/>
              </a:lnSpc>
              <a:spcBef>
                <a:spcPct val="0"/>
              </a:spcBef>
            </a:pPr>
            <a:r>
              <a:rPr lang="en-US" b="true" sz="2640">
                <a:solidFill>
                  <a:srgbClr val="000000"/>
                </a:solidFill>
                <a:latin typeface="Times New Roman Bold"/>
                <a:ea typeface="Times New Roman Bold"/>
                <a:cs typeface="Times New Roman Bold"/>
                <a:sym typeface="Times New Roman Bold"/>
              </a:rPr>
              <a:t>PRESENTED BY: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2232606" y="314839"/>
            <a:ext cx="22591826" cy="1139059"/>
          </a:xfrm>
          <a:prstGeom prst="rect">
            <a:avLst/>
          </a:prstGeom>
        </p:spPr>
        <p:txBody>
          <a:bodyPr anchor="t" rtlCol="false" tIns="0" lIns="0" bIns="0" rIns="0">
            <a:spAutoFit/>
          </a:bodyPr>
          <a:lstStyle/>
          <a:p>
            <a:pPr algn="ctr">
              <a:lnSpc>
                <a:spcPts val="9142"/>
              </a:lnSpc>
            </a:pPr>
            <a:r>
              <a:rPr lang="en-US" b="true" sz="6530">
                <a:solidFill>
                  <a:srgbClr val="000000"/>
                </a:solidFill>
                <a:latin typeface="Times New Roman Bold"/>
                <a:ea typeface="Times New Roman Bold"/>
                <a:cs typeface="Times New Roman Bold"/>
                <a:sym typeface="Times New Roman Bold"/>
              </a:rPr>
              <a:t>OUTLINE OF PRESENTATION</a:t>
            </a:r>
          </a:p>
        </p:txBody>
      </p:sp>
      <p:sp>
        <p:nvSpPr>
          <p:cNvPr name="TextBox 7" id="7"/>
          <p:cNvSpPr txBox="true"/>
          <p:nvPr/>
        </p:nvSpPr>
        <p:spPr>
          <a:xfrm rot="0">
            <a:off x="3355302" y="2025908"/>
            <a:ext cx="11081593" cy="7232392"/>
          </a:xfrm>
          <a:prstGeom prst="rect">
            <a:avLst/>
          </a:prstGeom>
        </p:spPr>
        <p:txBody>
          <a:bodyPr anchor="t" rtlCol="false" tIns="0" lIns="0" bIns="0" rIns="0">
            <a:spAutoFit/>
          </a:bodyPr>
          <a:lstStyle/>
          <a:p>
            <a:pPr algn="l">
              <a:lnSpc>
                <a:spcPts val="7189"/>
              </a:lnSpc>
              <a:spcBef>
                <a:spcPct val="0"/>
              </a:spcBef>
            </a:pPr>
            <a:r>
              <a:rPr lang="en-US" b="true" sz="5135">
                <a:solidFill>
                  <a:srgbClr val="000000"/>
                </a:solidFill>
                <a:latin typeface="Times New Roman Bold"/>
                <a:ea typeface="Times New Roman Bold"/>
                <a:cs typeface="Times New Roman Bold"/>
                <a:sym typeface="Times New Roman Bold"/>
              </a:rPr>
              <a:t>⮚INTRODUCTION</a:t>
            </a:r>
          </a:p>
          <a:p>
            <a:pPr algn="l">
              <a:lnSpc>
                <a:spcPts val="7189"/>
              </a:lnSpc>
              <a:spcBef>
                <a:spcPct val="0"/>
              </a:spcBef>
            </a:pPr>
            <a:r>
              <a:rPr lang="en-US" b="true" sz="5135">
                <a:solidFill>
                  <a:srgbClr val="000000"/>
                </a:solidFill>
                <a:latin typeface="Times New Roman Bold"/>
                <a:ea typeface="Times New Roman Bold"/>
                <a:cs typeface="Times New Roman Bold"/>
                <a:sym typeface="Times New Roman Bold"/>
              </a:rPr>
              <a:t>⮚LITERATURE SURVEY</a:t>
            </a:r>
          </a:p>
          <a:p>
            <a:pPr algn="l">
              <a:lnSpc>
                <a:spcPts val="7189"/>
              </a:lnSpc>
              <a:spcBef>
                <a:spcPct val="0"/>
              </a:spcBef>
            </a:pPr>
            <a:r>
              <a:rPr lang="en-US" b="true" sz="5135">
                <a:solidFill>
                  <a:srgbClr val="000000"/>
                </a:solidFill>
                <a:latin typeface="Times New Roman Bold"/>
                <a:ea typeface="Times New Roman Bold"/>
                <a:cs typeface="Times New Roman Bold"/>
                <a:sym typeface="Times New Roman Bold"/>
              </a:rPr>
              <a:t>⮚MOTIVATION AND CHALLENGES</a:t>
            </a:r>
          </a:p>
          <a:p>
            <a:pPr algn="l">
              <a:lnSpc>
                <a:spcPts val="7189"/>
              </a:lnSpc>
              <a:spcBef>
                <a:spcPct val="0"/>
              </a:spcBef>
            </a:pPr>
            <a:r>
              <a:rPr lang="en-US" b="true" sz="5135">
                <a:solidFill>
                  <a:srgbClr val="000000"/>
                </a:solidFill>
                <a:latin typeface="Times New Roman Bold"/>
                <a:ea typeface="Times New Roman Bold"/>
                <a:cs typeface="Times New Roman Bold"/>
                <a:sym typeface="Times New Roman Bold"/>
              </a:rPr>
              <a:t>⮚PROBLEM STATEMENT</a:t>
            </a:r>
          </a:p>
          <a:p>
            <a:pPr algn="l">
              <a:lnSpc>
                <a:spcPts val="7189"/>
              </a:lnSpc>
              <a:spcBef>
                <a:spcPct val="0"/>
              </a:spcBef>
            </a:pPr>
            <a:r>
              <a:rPr lang="en-US" b="true" sz="5135">
                <a:solidFill>
                  <a:srgbClr val="000000"/>
                </a:solidFill>
                <a:latin typeface="Times New Roman Bold"/>
                <a:ea typeface="Times New Roman Bold"/>
                <a:cs typeface="Times New Roman Bold"/>
                <a:sym typeface="Times New Roman Bold"/>
              </a:rPr>
              <a:t>⮚ALGORITHM</a:t>
            </a:r>
          </a:p>
          <a:p>
            <a:pPr algn="l">
              <a:lnSpc>
                <a:spcPts val="7189"/>
              </a:lnSpc>
              <a:spcBef>
                <a:spcPct val="0"/>
              </a:spcBef>
            </a:pPr>
            <a:r>
              <a:rPr lang="en-US" b="true" sz="5135">
                <a:solidFill>
                  <a:srgbClr val="000000"/>
                </a:solidFill>
                <a:latin typeface="Times New Roman Bold"/>
                <a:ea typeface="Times New Roman Bold"/>
                <a:cs typeface="Times New Roman Bold"/>
                <a:sym typeface="Times New Roman Bold"/>
              </a:rPr>
              <a:t>⮚BLOCK DIAGRAM </a:t>
            </a:r>
          </a:p>
          <a:p>
            <a:pPr algn="l">
              <a:lnSpc>
                <a:spcPts val="7189"/>
              </a:lnSpc>
              <a:spcBef>
                <a:spcPct val="0"/>
              </a:spcBef>
            </a:pPr>
            <a:r>
              <a:rPr lang="en-US" b="true" sz="5135">
                <a:solidFill>
                  <a:srgbClr val="000000"/>
                </a:solidFill>
                <a:latin typeface="Times New Roman Bold"/>
                <a:ea typeface="Times New Roman Bold"/>
                <a:cs typeface="Times New Roman Bold"/>
                <a:sym typeface="Times New Roman Bold"/>
              </a:rPr>
              <a:t>⮚CONCLUSION</a:t>
            </a:r>
          </a:p>
          <a:p>
            <a:pPr algn="l">
              <a:lnSpc>
                <a:spcPts val="7189"/>
              </a:lnSpc>
              <a:spcBef>
                <a:spcPct val="0"/>
              </a:spcBef>
            </a:pPr>
            <a:r>
              <a:rPr lang="en-US" b="true" sz="5135">
                <a:solidFill>
                  <a:srgbClr val="000000"/>
                </a:solidFill>
                <a:latin typeface="Times New Roman Bold"/>
                <a:ea typeface="Times New Roman Bold"/>
                <a:cs typeface="Times New Roman Bold"/>
                <a:sym typeface="Times New Roman Bold"/>
              </a:rPr>
              <a:t>⮚REFERENCES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95099" y="2269263"/>
            <a:ext cx="17304898" cy="7549973"/>
          </a:xfrm>
          <a:prstGeom prst="rect">
            <a:avLst/>
          </a:prstGeom>
        </p:spPr>
        <p:txBody>
          <a:bodyPr anchor="t" rtlCol="false" tIns="0" lIns="0" bIns="0" rIns="0">
            <a:spAutoFit/>
          </a:bodyPr>
          <a:lstStyle/>
          <a:p>
            <a:pPr algn="just">
              <a:lnSpc>
                <a:spcPts val="5434"/>
              </a:lnSpc>
            </a:pPr>
            <a:r>
              <a:rPr lang="en-US" sz="3881">
                <a:solidFill>
                  <a:srgbClr val="000000"/>
                </a:solidFill>
                <a:latin typeface="Times New Roman"/>
                <a:ea typeface="Times New Roman"/>
                <a:cs typeface="Times New Roman"/>
                <a:sym typeface="Times New Roman"/>
              </a:rPr>
              <a:t>In today’s world of personalization, people want customized fashion and style advice that truly suits them. However, figuring out which styles match someone’s features—especially their face shape—can be difficult. The “FaceFit” project was created to make this process easier and more objective.</a:t>
            </a:r>
          </a:p>
          <a:p>
            <a:pPr algn="just">
              <a:lnSpc>
                <a:spcPts val="5434"/>
              </a:lnSpc>
            </a:pPr>
            <a:r>
              <a:rPr lang="en-US" sz="3881">
                <a:solidFill>
                  <a:srgbClr val="000000"/>
                </a:solidFill>
                <a:latin typeface="Times New Roman"/>
                <a:ea typeface="Times New Roman"/>
                <a:cs typeface="Times New Roman"/>
                <a:sym typeface="Times New Roman"/>
              </a:rPr>
              <a:t>Its main goal is to build an AI-based application that analyzes a person’s face and offers science-backed styling suggestions. By combining advanced AI tools like OpenCV for image processing, Dlib for facial detection, Scikit-learn for model development, and the Google Gemini API for generating descriptions, FaceFit connects complex facial analysis with simple, practical fashion advice. This report explains the full development process, from data collection and model training to final deployment.</a:t>
            </a:r>
          </a:p>
          <a:p>
            <a:pPr algn="just">
              <a:lnSpc>
                <a:spcPts val="5434"/>
              </a:lnSpc>
            </a:pPr>
          </a:p>
        </p:txBody>
      </p:sp>
      <p:sp>
        <p:nvSpPr>
          <p:cNvPr name="TextBox 6" id="6"/>
          <p:cNvSpPr txBox="true"/>
          <p:nvPr/>
        </p:nvSpPr>
        <p:spPr>
          <a:xfrm rot="0">
            <a:off x="4123084" y="276739"/>
            <a:ext cx="9672231" cy="1405637"/>
          </a:xfrm>
          <a:prstGeom prst="rect">
            <a:avLst/>
          </a:prstGeom>
        </p:spPr>
        <p:txBody>
          <a:bodyPr anchor="t" rtlCol="false" tIns="0" lIns="0" bIns="0" rIns="0">
            <a:spAutoFit/>
          </a:bodyPr>
          <a:lstStyle/>
          <a:p>
            <a:pPr algn="ctr">
              <a:lnSpc>
                <a:spcPts val="11248"/>
              </a:lnSpc>
            </a:pPr>
            <a:r>
              <a:rPr lang="en-US" b="true" sz="8034">
                <a:solidFill>
                  <a:srgbClr val="000000"/>
                </a:solidFill>
                <a:latin typeface="Times New Roman Bold"/>
                <a:ea typeface="Times New Roman Bold"/>
                <a:cs typeface="Times New Roman Bold"/>
                <a:sym typeface="Times New Roman Bold"/>
              </a:rPr>
              <a:t>INTRODUCTION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80483" y="-70162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aphicFrame>
        <p:nvGraphicFramePr>
          <p:cNvPr name="Object 7" id="7"/>
          <p:cNvGraphicFramePr/>
          <p:nvPr/>
        </p:nvGraphicFramePr>
        <p:xfrm>
          <a:off x="1028700" y="2522865"/>
          <a:ext cx="12901612" cy="7212473"/>
        </p:xfrm>
        <a:graphic>
          <a:graphicData uri="http://schemas.openxmlformats.org/presentationml/2006/ole">
            <p:oleObj imgW="15468600" imgH="97917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TextBox 8" id="8"/>
          <p:cNvSpPr txBox="true"/>
          <p:nvPr/>
        </p:nvSpPr>
        <p:spPr>
          <a:xfrm rot="0">
            <a:off x="1028700" y="346985"/>
            <a:ext cx="16546225" cy="1339086"/>
          </a:xfrm>
          <a:prstGeom prst="rect">
            <a:avLst/>
          </a:prstGeom>
        </p:spPr>
        <p:txBody>
          <a:bodyPr anchor="t" rtlCol="false" tIns="0" lIns="0" bIns="0" rIns="0">
            <a:spAutoFit/>
          </a:bodyPr>
          <a:lstStyle/>
          <a:p>
            <a:pPr algn="ctr">
              <a:lnSpc>
                <a:spcPts val="10600"/>
              </a:lnSpc>
            </a:pPr>
            <a:r>
              <a:rPr lang="en-US" b="true" sz="7571">
                <a:solidFill>
                  <a:srgbClr val="000000"/>
                </a:solidFill>
                <a:latin typeface="Times New Roman Bold"/>
                <a:ea typeface="Times New Roman Bold"/>
                <a:cs typeface="Times New Roman Bold"/>
                <a:sym typeface="Times New Roman Bold"/>
              </a:rPr>
              <a:t>LITERATURE SURVEY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80483" y="-70162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aphicFrame>
        <p:nvGraphicFramePr>
          <p:cNvPr name="Object 7" id="7"/>
          <p:cNvGraphicFramePr/>
          <p:nvPr/>
        </p:nvGraphicFramePr>
        <p:xfrm>
          <a:off x="752792" y="2272843"/>
          <a:ext cx="12901612" cy="5470969"/>
        </p:xfrm>
        <a:graphic>
          <a:graphicData uri="http://schemas.openxmlformats.org/presentationml/2006/ole">
            <p:oleObj imgW="15468600" imgH="80391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TextBox 8" id="8"/>
          <p:cNvSpPr txBox="true"/>
          <p:nvPr/>
        </p:nvSpPr>
        <p:spPr>
          <a:xfrm rot="0">
            <a:off x="1028700" y="346985"/>
            <a:ext cx="16546225" cy="1339086"/>
          </a:xfrm>
          <a:prstGeom prst="rect">
            <a:avLst/>
          </a:prstGeom>
        </p:spPr>
        <p:txBody>
          <a:bodyPr anchor="t" rtlCol="false" tIns="0" lIns="0" bIns="0" rIns="0">
            <a:spAutoFit/>
          </a:bodyPr>
          <a:lstStyle/>
          <a:p>
            <a:pPr algn="ctr">
              <a:lnSpc>
                <a:spcPts val="10600"/>
              </a:lnSpc>
            </a:pPr>
            <a:r>
              <a:rPr lang="en-US" b="true" sz="7571">
                <a:solidFill>
                  <a:srgbClr val="000000"/>
                </a:solidFill>
                <a:latin typeface="Times New Roman Bold"/>
                <a:ea typeface="Times New Roman Bold"/>
                <a:cs typeface="Times New Roman Bold"/>
                <a:sym typeface="Times New Roman Bold"/>
              </a:rPr>
              <a:t>LITERATURE SURVEY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1377524" y="5517417"/>
            <a:ext cx="9295205" cy="5948931"/>
          </a:xfrm>
          <a:custGeom>
            <a:avLst/>
            <a:gdLst/>
            <a:ahLst/>
            <a:cxnLst/>
            <a:rect r="r" b="b" t="t" l="l"/>
            <a:pathLst>
              <a:path h="5948931" w="9295205">
                <a:moveTo>
                  <a:pt x="9295206" y="0"/>
                </a:moveTo>
                <a:lnTo>
                  <a:pt x="0" y="0"/>
                </a:lnTo>
                <a:lnTo>
                  <a:pt x="0" y="5948931"/>
                </a:lnTo>
                <a:lnTo>
                  <a:pt x="9295206" y="5948931"/>
                </a:lnTo>
                <a:lnTo>
                  <a:pt x="929520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2262873" y="362464"/>
            <a:ext cx="13762254" cy="757556"/>
          </a:xfrm>
          <a:prstGeom prst="rect">
            <a:avLst/>
          </a:prstGeom>
        </p:spPr>
        <p:txBody>
          <a:bodyPr anchor="t" rtlCol="false" tIns="0" lIns="0" bIns="0" rIns="0">
            <a:spAutoFit/>
          </a:bodyPr>
          <a:lstStyle/>
          <a:p>
            <a:pPr algn="ctr">
              <a:lnSpc>
                <a:spcPts val="6019"/>
              </a:lnSpc>
            </a:pPr>
            <a:r>
              <a:rPr lang="en-US" b="true" sz="4299">
                <a:solidFill>
                  <a:srgbClr val="000000"/>
                </a:solidFill>
                <a:latin typeface="Times New Roman Bold"/>
                <a:ea typeface="Times New Roman Bold"/>
                <a:cs typeface="Times New Roman Bold"/>
                <a:sym typeface="Times New Roman Bold"/>
              </a:rPr>
              <a:t>MOTIVATION   &amp;  CHALLENGES</a:t>
            </a:r>
          </a:p>
        </p:txBody>
      </p:sp>
      <p:sp>
        <p:nvSpPr>
          <p:cNvPr name="TextBox 7" id="7"/>
          <p:cNvSpPr txBox="true"/>
          <p:nvPr/>
        </p:nvSpPr>
        <p:spPr>
          <a:xfrm rot="0">
            <a:off x="1359173" y="1034295"/>
            <a:ext cx="15133250" cy="8880519"/>
          </a:xfrm>
          <a:prstGeom prst="rect">
            <a:avLst/>
          </a:prstGeom>
        </p:spPr>
        <p:txBody>
          <a:bodyPr anchor="t" rtlCol="false" tIns="0" lIns="0" bIns="0" rIns="0">
            <a:spAutoFit/>
          </a:bodyPr>
          <a:lstStyle/>
          <a:p>
            <a:pPr algn="l">
              <a:lnSpc>
                <a:spcPts val="4720"/>
              </a:lnSpc>
              <a:spcBef>
                <a:spcPct val="0"/>
              </a:spcBef>
            </a:pPr>
            <a:r>
              <a:rPr lang="en-US" sz="3372">
                <a:solidFill>
                  <a:srgbClr val="000000"/>
                </a:solidFill>
                <a:latin typeface="Times New Roman"/>
                <a:ea typeface="Times New Roman"/>
                <a:cs typeface="Times New Roman"/>
                <a:sym typeface="Times New Roman"/>
              </a:rPr>
              <a:t>Motivation:</a:t>
            </a:r>
          </a:p>
          <a:p>
            <a:pPr algn="l" marL="728029" indent="-364014" lvl="1">
              <a:lnSpc>
                <a:spcPts val="4720"/>
              </a:lnSpc>
              <a:buFont typeface="Arial"/>
              <a:buChar char="•"/>
            </a:pPr>
            <a:r>
              <a:rPr lang="en-US" sz="3372">
                <a:solidFill>
                  <a:srgbClr val="000000"/>
                </a:solidFill>
                <a:latin typeface="Times New Roman"/>
                <a:ea typeface="Times New Roman"/>
                <a:cs typeface="Times New Roman"/>
                <a:sym typeface="Times New Roman"/>
              </a:rPr>
              <a:t>Enable users to virtually try diverse fashion accessories in real time without physical products.</a:t>
            </a:r>
          </a:p>
          <a:p>
            <a:pPr algn="l" marL="728029" indent="-364014" lvl="1">
              <a:lnSpc>
                <a:spcPts val="4720"/>
              </a:lnSpc>
              <a:buFont typeface="Arial"/>
              <a:buChar char="•"/>
            </a:pPr>
            <a:r>
              <a:rPr lang="en-US" sz="3372">
                <a:solidFill>
                  <a:srgbClr val="000000"/>
                </a:solidFill>
                <a:latin typeface="Times New Roman"/>
                <a:ea typeface="Times New Roman"/>
                <a:cs typeface="Times New Roman"/>
                <a:sym typeface="Times New Roman"/>
              </a:rPr>
              <a:t>Innovate in domains like online shopping, personal styling, and interactive entertainment by blending AI and visual effects.</a:t>
            </a:r>
          </a:p>
          <a:p>
            <a:pPr algn="l">
              <a:lnSpc>
                <a:spcPts val="4720"/>
              </a:lnSpc>
              <a:spcBef>
                <a:spcPct val="0"/>
              </a:spcBef>
            </a:pPr>
          </a:p>
          <a:p>
            <a:pPr algn="l">
              <a:lnSpc>
                <a:spcPts val="4720"/>
              </a:lnSpc>
              <a:spcBef>
                <a:spcPct val="0"/>
              </a:spcBef>
            </a:pPr>
            <a:r>
              <a:rPr lang="en-US" sz="3372">
                <a:solidFill>
                  <a:srgbClr val="000000"/>
                </a:solidFill>
                <a:latin typeface="Times New Roman"/>
                <a:ea typeface="Times New Roman"/>
                <a:cs typeface="Times New Roman"/>
                <a:sym typeface="Times New Roman"/>
              </a:rPr>
              <a:t>Challenges:</a:t>
            </a:r>
          </a:p>
          <a:p>
            <a:pPr algn="l" marL="728029" indent="-364014" lvl="1">
              <a:lnSpc>
                <a:spcPts val="4720"/>
              </a:lnSpc>
              <a:buFont typeface="Arial"/>
              <a:buChar char="•"/>
            </a:pPr>
            <a:r>
              <a:rPr lang="en-US" sz="3372">
                <a:solidFill>
                  <a:srgbClr val="000000"/>
                </a:solidFill>
                <a:latin typeface="Times New Roman"/>
                <a:ea typeface="Times New Roman"/>
                <a:cs typeface="Times New Roman"/>
                <a:sym typeface="Times New Roman"/>
              </a:rPr>
              <a:t>Accurate facial landmark detection in varying lighting, poses, and facial expressions.</a:t>
            </a:r>
          </a:p>
          <a:p>
            <a:pPr algn="l" marL="728029" indent="-364014" lvl="1">
              <a:lnSpc>
                <a:spcPts val="4720"/>
              </a:lnSpc>
              <a:buFont typeface="Arial"/>
              <a:buChar char="•"/>
            </a:pPr>
            <a:r>
              <a:rPr lang="en-US" sz="3372">
                <a:solidFill>
                  <a:srgbClr val="000000"/>
                </a:solidFill>
                <a:latin typeface="Times New Roman"/>
                <a:ea typeface="Times New Roman"/>
                <a:cs typeface="Times New Roman"/>
                <a:sym typeface="Times New Roman"/>
              </a:rPr>
              <a:t>Dynamic accessory retrieval from external APIs and handling rate limits, image variability, and caching.</a:t>
            </a:r>
          </a:p>
          <a:p>
            <a:pPr algn="l" marL="728029" indent="-364014" lvl="1">
              <a:lnSpc>
                <a:spcPts val="4720"/>
              </a:lnSpc>
              <a:buFont typeface="Arial"/>
              <a:buChar char="•"/>
            </a:pPr>
            <a:r>
              <a:rPr lang="en-US" sz="3372">
                <a:solidFill>
                  <a:srgbClr val="000000"/>
                </a:solidFill>
                <a:latin typeface="Times New Roman"/>
                <a:ea typeface="Times New Roman"/>
                <a:cs typeface="Times New Roman"/>
                <a:sym typeface="Times New Roman"/>
              </a:rPr>
              <a:t>Seamless blending of accessories with alpha transparency to create realistic appearances.</a:t>
            </a:r>
          </a:p>
          <a:p>
            <a:pPr algn="l" marL="728029" indent="-364014" lvl="1">
              <a:lnSpc>
                <a:spcPts val="4720"/>
              </a:lnSpc>
              <a:buFont typeface="Arial"/>
              <a:buChar char="•"/>
            </a:pPr>
            <a:r>
              <a:rPr lang="en-US" sz="3372">
                <a:solidFill>
                  <a:srgbClr val="000000"/>
                </a:solidFill>
                <a:latin typeface="Times New Roman"/>
                <a:ea typeface="Times New Roman"/>
                <a:cs typeface="Times New Roman"/>
                <a:sym typeface="Times New Roman"/>
              </a:rPr>
              <a:t>Managing multiple faces in a video stream while maintaining performance and accuracy.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514350" y="2173622"/>
            <a:ext cx="17259300" cy="6498261"/>
          </a:xfrm>
          <a:prstGeom prst="rect">
            <a:avLst/>
          </a:prstGeom>
        </p:spPr>
        <p:txBody>
          <a:bodyPr anchor="t" rtlCol="false" tIns="0" lIns="0" bIns="0" rIns="0">
            <a:spAutoFit/>
          </a:bodyPr>
          <a:lstStyle/>
          <a:p>
            <a:pPr algn="just">
              <a:lnSpc>
                <a:spcPts val="5738"/>
              </a:lnSpc>
            </a:pPr>
            <a:r>
              <a:rPr lang="en-US" sz="3609">
                <a:solidFill>
                  <a:srgbClr val="000000"/>
                </a:solidFill>
                <a:latin typeface="Times New Roman"/>
                <a:ea typeface="Times New Roman"/>
                <a:cs typeface="Times New Roman"/>
                <a:sym typeface="Times New Roman"/>
              </a:rPr>
              <a:t>To addresses the issues of subjectivity, inconvenience, and lack of personalization in accessory selection. Traditionally, people rely on trial-and-error, mirrors, or others’ opinions, leading to dissatisfaction and poor choices. In stores, trying multiple items is time-consuming and raises hygiene concerns, while online shopping without virtual try-ons increases return rates.</a:t>
            </a:r>
          </a:p>
          <a:p>
            <a:pPr algn="just">
              <a:lnSpc>
                <a:spcPts val="5738"/>
              </a:lnSpc>
            </a:pPr>
            <a:r>
              <a:rPr lang="en-US" sz="3609">
                <a:solidFill>
                  <a:srgbClr val="000000"/>
                </a:solidFill>
                <a:latin typeface="Times New Roman"/>
                <a:ea typeface="Times New Roman"/>
                <a:cs typeface="Times New Roman"/>
                <a:sym typeface="Times New Roman"/>
              </a:rPr>
              <a:t> The goal is to develop a fast, reliable tool that accurately analyzes face shapes and provides instant virtual fitting—enhancing user confidence, improving shopping experiences, and supporting scalable retail solutions.</a:t>
            </a:r>
          </a:p>
          <a:p>
            <a:pPr algn="just">
              <a:lnSpc>
                <a:spcPts val="5738"/>
              </a:lnSpc>
            </a:pPr>
          </a:p>
        </p:txBody>
      </p:sp>
      <p:sp>
        <p:nvSpPr>
          <p:cNvPr name="TextBox 6" id="6"/>
          <p:cNvSpPr txBox="true"/>
          <p:nvPr/>
        </p:nvSpPr>
        <p:spPr>
          <a:xfrm rot="0">
            <a:off x="4922503" y="398740"/>
            <a:ext cx="9109025" cy="1107519"/>
          </a:xfrm>
          <a:prstGeom prst="rect">
            <a:avLst/>
          </a:prstGeom>
        </p:spPr>
        <p:txBody>
          <a:bodyPr anchor="t" rtlCol="false" tIns="0" lIns="0" bIns="0" rIns="0">
            <a:spAutoFit/>
          </a:bodyPr>
          <a:lstStyle/>
          <a:p>
            <a:pPr algn="ctr">
              <a:lnSpc>
                <a:spcPts val="8780"/>
              </a:lnSpc>
              <a:spcBef>
                <a:spcPct val="0"/>
              </a:spcBef>
            </a:pPr>
            <a:r>
              <a:rPr lang="en-US" b="true" sz="6271">
                <a:solidFill>
                  <a:srgbClr val="000000"/>
                </a:solidFill>
                <a:latin typeface="Times New Roman Bold"/>
                <a:ea typeface="Times New Roman Bold"/>
                <a:cs typeface="Times New Roman Bold"/>
                <a:sym typeface="Times New Roman Bold"/>
              </a:rPr>
              <a:t>PROBLEM STATEMENT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307884" y="-171450"/>
            <a:ext cx="9672231" cy="1257043"/>
          </a:xfrm>
          <a:prstGeom prst="rect">
            <a:avLst/>
          </a:prstGeom>
        </p:spPr>
        <p:txBody>
          <a:bodyPr anchor="t" rtlCol="false" tIns="0" lIns="0" bIns="0" rIns="0">
            <a:spAutoFit/>
          </a:bodyPr>
          <a:lstStyle/>
          <a:p>
            <a:pPr algn="ctr">
              <a:lnSpc>
                <a:spcPts val="9989"/>
              </a:lnSpc>
            </a:pPr>
            <a:r>
              <a:rPr lang="en-US" b="true" sz="7135">
                <a:solidFill>
                  <a:srgbClr val="000000"/>
                </a:solidFill>
                <a:latin typeface="Times New Roman Bold"/>
                <a:ea typeface="Times New Roman Bold"/>
                <a:cs typeface="Times New Roman Bold"/>
                <a:sym typeface="Times New Roman Bold"/>
              </a:rPr>
              <a:t>ALGORITHM</a:t>
            </a:r>
          </a:p>
        </p:txBody>
      </p:sp>
      <p:sp>
        <p:nvSpPr>
          <p:cNvPr name="TextBox 6" id="6"/>
          <p:cNvSpPr txBox="true"/>
          <p:nvPr/>
        </p:nvSpPr>
        <p:spPr>
          <a:xfrm rot="0">
            <a:off x="1028700" y="1183320"/>
            <a:ext cx="16230600" cy="12991186"/>
          </a:xfrm>
          <a:prstGeom prst="rect">
            <a:avLst/>
          </a:prstGeom>
        </p:spPr>
        <p:txBody>
          <a:bodyPr anchor="t" rtlCol="false" tIns="0" lIns="0" bIns="0" rIns="0">
            <a:spAutoFit/>
          </a:bodyPr>
          <a:lstStyle/>
          <a:p>
            <a:pPr algn="just">
              <a:lnSpc>
                <a:spcPts val="4910"/>
              </a:lnSpc>
            </a:pPr>
            <a:r>
              <a:rPr lang="en-US" sz="3273">
                <a:solidFill>
                  <a:srgbClr val="000000"/>
                </a:solidFill>
                <a:latin typeface="Times New Roman"/>
                <a:ea typeface="Times New Roman"/>
                <a:cs typeface="Times New Roman"/>
                <a:sym typeface="Times New Roman"/>
              </a:rPr>
              <a:t>Step 1: START / INITIALIZE MODELS</a:t>
            </a:r>
          </a:p>
          <a:p>
            <a:pPr algn="just">
              <a:lnSpc>
                <a:spcPts val="4910"/>
              </a:lnSpc>
            </a:pPr>
            <a:r>
              <a:rPr lang="en-US" sz="3273">
                <a:solidFill>
                  <a:srgbClr val="000000"/>
                </a:solidFill>
                <a:latin typeface="Times New Roman"/>
                <a:ea typeface="Times New Roman"/>
                <a:cs typeface="Times New Roman"/>
                <a:sym typeface="Times New Roman"/>
              </a:rPr>
              <a:t> Action: Begin the application and load necessary resources.</a:t>
            </a:r>
          </a:p>
          <a:p>
            <a:pPr algn="just">
              <a:lnSpc>
                <a:spcPts val="4910"/>
              </a:lnSpc>
            </a:pPr>
            <a:r>
              <a:rPr lang="en-US" sz="3273">
                <a:solidFill>
                  <a:srgbClr val="000000"/>
                </a:solidFill>
                <a:latin typeface="Times New Roman"/>
                <a:ea typeface="Times New Roman"/>
                <a:cs typeface="Times New Roman"/>
                <a:sym typeface="Times New Roman"/>
              </a:rPr>
              <a:t> Description: Initialize the face detector, 68-landmark predictor, and the trained Machine Learning (ML) model for face shape classification.</a:t>
            </a:r>
          </a:p>
          <a:p>
            <a:pPr algn="just">
              <a:lnSpc>
                <a:spcPts val="4910"/>
              </a:lnSpc>
            </a:pPr>
          </a:p>
          <a:p>
            <a:pPr algn="just">
              <a:lnSpc>
                <a:spcPts val="4910"/>
              </a:lnSpc>
            </a:pPr>
            <a:r>
              <a:rPr lang="en-US" sz="3273">
                <a:solidFill>
                  <a:srgbClr val="000000"/>
                </a:solidFill>
                <a:latin typeface="Times New Roman"/>
                <a:ea typeface="Times New Roman"/>
                <a:cs typeface="Times New Roman"/>
                <a:sym typeface="Times New Roman"/>
              </a:rPr>
              <a:t>Step 2: INPUT FRAME </a:t>
            </a:r>
          </a:p>
          <a:p>
            <a:pPr algn="just">
              <a:lnSpc>
                <a:spcPts val="4910"/>
              </a:lnSpc>
            </a:pPr>
            <a:r>
              <a:rPr lang="en-US" sz="3273">
                <a:solidFill>
                  <a:srgbClr val="000000"/>
                </a:solidFill>
                <a:latin typeface="Times New Roman"/>
                <a:ea typeface="Times New Roman"/>
                <a:cs typeface="Times New Roman"/>
                <a:sym typeface="Times New Roman"/>
              </a:rPr>
              <a:t>Action: Capture the next frame of data.</a:t>
            </a:r>
          </a:p>
          <a:p>
            <a:pPr algn="just">
              <a:lnSpc>
                <a:spcPts val="4910"/>
              </a:lnSpc>
            </a:pPr>
            <a:r>
              <a:rPr lang="en-US" sz="3273">
                <a:solidFill>
                  <a:srgbClr val="000000"/>
                </a:solidFill>
                <a:latin typeface="Times New Roman"/>
                <a:ea typeface="Times New Roman"/>
                <a:cs typeface="Times New Roman"/>
                <a:sym typeface="Times New Roman"/>
              </a:rPr>
              <a:t>Description: Input a new image frame from the webcam or a static image file</a:t>
            </a:r>
          </a:p>
          <a:p>
            <a:pPr algn="just">
              <a:lnSpc>
                <a:spcPts val="4910"/>
              </a:lnSpc>
            </a:pPr>
          </a:p>
          <a:p>
            <a:pPr algn="just">
              <a:lnSpc>
                <a:spcPts val="4910"/>
              </a:lnSpc>
            </a:pPr>
            <a:r>
              <a:rPr lang="en-US" sz="3273">
                <a:solidFill>
                  <a:srgbClr val="000000"/>
                </a:solidFill>
                <a:latin typeface="Times New Roman"/>
                <a:ea typeface="Times New Roman"/>
                <a:cs typeface="Times New Roman"/>
                <a:sym typeface="Times New Roman"/>
              </a:rPr>
              <a:t> Step 3: DECISION: DETECT FACE?</a:t>
            </a:r>
          </a:p>
          <a:p>
            <a:pPr algn="just">
              <a:lnSpc>
                <a:spcPts val="4910"/>
              </a:lnSpc>
            </a:pPr>
            <a:r>
              <a:rPr lang="en-US" sz="3273">
                <a:solidFill>
                  <a:srgbClr val="000000"/>
                </a:solidFill>
                <a:latin typeface="Times New Roman"/>
                <a:ea typeface="Times New Roman"/>
                <a:cs typeface="Times New Roman"/>
                <a:sym typeface="Times New Roman"/>
              </a:rPr>
              <a:t>Action: Run the face detection model.</a:t>
            </a:r>
          </a:p>
          <a:p>
            <a:pPr algn="just">
              <a:lnSpc>
                <a:spcPts val="4910"/>
              </a:lnSpc>
            </a:pPr>
            <a:r>
              <a:rPr lang="en-US" sz="3273">
                <a:solidFill>
                  <a:srgbClr val="000000"/>
                </a:solidFill>
                <a:latin typeface="Times New Roman"/>
                <a:ea typeface="Times New Roman"/>
                <a:cs typeface="Times New Roman"/>
                <a:sym typeface="Times New Roman"/>
              </a:rPr>
              <a:t> Description: Check if one or more human faces are present in the current frame. If YES, proceed to </a:t>
            </a:r>
          </a:p>
          <a:p>
            <a:pPr algn="just">
              <a:lnSpc>
                <a:spcPts val="4910"/>
              </a:lnSpc>
            </a:pPr>
            <a:r>
              <a:rPr lang="en-US" sz="3273">
                <a:solidFill>
                  <a:srgbClr val="000000"/>
                </a:solidFill>
                <a:latin typeface="Times New Roman"/>
                <a:ea typeface="Times New Roman"/>
                <a:cs typeface="Times New Roman"/>
                <a:sym typeface="Times New Roman"/>
              </a:rPr>
              <a:t>Step 4. If NO, skip to Step 10.</a:t>
            </a:r>
          </a:p>
          <a:p>
            <a:pPr algn="just">
              <a:lnSpc>
                <a:spcPts val="4910"/>
              </a:lnSpc>
            </a:pPr>
          </a:p>
          <a:p>
            <a:pPr algn="just">
              <a:lnSpc>
                <a:spcPts val="4910"/>
              </a:lnSpc>
            </a:pPr>
            <a:r>
              <a:rPr lang="en-US" sz="3273">
                <a:solidFill>
                  <a:srgbClr val="000000"/>
                </a:solidFill>
                <a:latin typeface="Times New Roman"/>
                <a:ea typeface="Times New Roman"/>
                <a:cs typeface="Times New Roman"/>
                <a:sym typeface="Times New Roman"/>
              </a:rPr>
              <a:t>Step 4: FIND 68 FACIAL LANDMARKS</a:t>
            </a:r>
          </a:p>
          <a:p>
            <a:pPr algn="just">
              <a:lnSpc>
                <a:spcPts val="4910"/>
              </a:lnSpc>
            </a:pPr>
            <a:r>
              <a:rPr lang="en-US" sz="3273">
                <a:solidFill>
                  <a:srgbClr val="000000"/>
                </a:solidFill>
                <a:latin typeface="Times New Roman"/>
                <a:ea typeface="Times New Roman"/>
                <a:cs typeface="Times New Roman"/>
                <a:sym typeface="Times New Roman"/>
              </a:rPr>
              <a:t>Action: Locate 68 distinct points on the detected face.</a:t>
            </a:r>
          </a:p>
          <a:p>
            <a:pPr algn="just">
              <a:lnSpc>
                <a:spcPts val="4910"/>
              </a:lnSpc>
            </a:pPr>
            <a:r>
              <a:rPr lang="en-US" sz="3273">
                <a:solidFill>
                  <a:srgbClr val="000000"/>
                </a:solidFill>
                <a:latin typeface="Times New Roman"/>
                <a:ea typeface="Times New Roman"/>
                <a:cs typeface="Times New Roman"/>
                <a:sym typeface="Times New Roman"/>
              </a:rPr>
              <a:t>Description: Use the landmark predictor model to map the key geometric points of the face.</a:t>
            </a:r>
          </a:p>
          <a:p>
            <a:pPr algn="just">
              <a:lnSpc>
                <a:spcPts val="4910"/>
              </a:lnSpc>
            </a:pPr>
            <a:r>
              <a:rPr lang="en-US" sz="3273">
                <a:solidFill>
                  <a:srgbClr val="000000"/>
                </a:solidFill>
                <a:latin typeface="Times New Roman"/>
                <a:ea typeface="Times New Roman"/>
                <a:cs typeface="Times New Roman"/>
                <a:sym typeface="Times New Roman"/>
              </a:rPr>
              <a:t>Next Step: Simultaneously proceed to Step 5 (Classification Path) and Step 7 (Augmentation Path).</a:t>
            </a:r>
          </a:p>
          <a:p>
            <a:pPr algn="just">
              <a:lnSpc>
                <a:spcPts val="4910"/>
              </a:lnSpc>
            </a:pPr>
            <a:r>
              <a:rPr lang="en-US" sz="3273">
                <a:solidFill>
                  <a:srgbClr val="000000"/>
                </a:solidFill>
                <a:latin typeface="Times New Roman"/>
                <a:ea typeface="Times New Roman"/>
                <a:cs typeface="Times New Roman"/>
                <a:sym typeface="Times New Roman"/>
              </a:rPr>
              <a:t>Classification Path (Face Shape)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false" flipV="false" rot="0">
            <a:off x="149138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228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431084" y="-171450"/>
            <a:ext cx="9672231" cy="1257043"/>
          </a:xfrm>
          <a:prstGeom prst="rect">
            <a:avLst/>
          </a:prstGeom>
        </p:spPr>
        <p:txBody>
          <a:bodyPr anchor="t" rtlCol="false" tIns="0" lIns="0" bIns="0" rIns="0">
            <a:spAutoFit/>
          </a:bodyPr>
          <a:lstStyle/>
          <a:p>
            <a:pPr algn="ctr">
              <a:lnSpc>
                <a:spcPts val="9989"/>
              </a:lnSpc>
            </a:pPr>
            <a:r>
              <a:rPr lang="en-US" b="true" sz="7135">
                <a:solidFill>
                  <a:srgbClr val="000000"/>
                </a:solidFill>
                <a:latin typeface="Times New Roman Bold"/>
                <a:ea typeface="Times New Roman Bold"/>
                <a:cs typeface="Times New Roman Bold"/>
                <a:sym typeface="Times New Roman Bold"/>
              </a:rPr>
              <a:t>ALGORITHM</a:t>
            </a:r>
          </a:p>
        </p:txBody>
      </p:sp>
      <p:sp>
        <p:nvSpPr>
          <p:cNvPr name="TextBox 6" id="6"/>
          <p:cNvSpPr txBox="true"/>
          <p:nvPr/>
        </p:nvSpPr>
        <p:spPr>
          <a:xfrm rot="0">
            <a:off x="885602" y="1229700"/>
            <a:ext cx="16516796" cy="2898267"/>
          </a:xfrm>
          <a:prstGeom prst="rect">
            <a:avLst/>
          </a:prstGeom>
        </p:spPr>
        <p:txBody>
          <a:bodyPr anchor="t" rtlCol="false" tIns="0" lIns="0" bIns="0" rIns="0">
            <a:spAutoFit/>
          </a:bodyPr>
          <a:lstStyle/>
          <a:p>
            <a:pPr algn="l">
              <a:lnSpc>
                <a:spcPts val="4578"/>
              </a:lnSpc>
              <a:spcBef>
                <a:spcPct val="0"/>
              </a:spcBef>
            </a:pPr>
            <a:r>
              <a:rPr lang="en-US" sz="3270">
                <a:solidFill>
                  <a:srgbClr val="000000"/>
                </a:solidFill>
                <a:latin typeface="Times New Roman"/>
                <a:ea typeface="Times New Roman"/>
                <a:cs typeface="Times New Roman"/>
                <a:sym typeface="Times New Roman"/>
              </a:rPr>
              <a:t>Step 4: FIND 68 FACIAL LANDMARKS</a:t>
            </a:r>
          </a:p>
          <a:p>
            <a:pPr algn="l">
              <a:lnSpc>
                <a:spcPts val="4578"/>
              </a:lnSpc>
              <a:spcBef>
                <a:spcPct val="0"/>
              </a:spcBef>
            </a:pPr>
            <a:r>
              <a:rPr lang="en-US" sz="3270">
                <a:solidFill>
                  <a:srgbClr val="000000"/>
                </a:solidFill>
                <a:latin typeface="Times New Roman"/>
                <a:ea typeface="Times New Roman"/>
                <a:cs typeface="Times New Roman"/>
                <a:sym typeface="Times New Roman"/>
              </a:rPr>
              <a:t>Action: Locate 68 distinct points on the detected face.</a:t>
            </a:r>
          </a:p>
          <a:p>
            <a:pPr algn="l">
              <a:lnSpc>
                <a:spcPts val="4578"/>
              </a:lnSpc>
              <a:spcBef>
                <a:spcPct val="0"/>
              </a:spcBef>
            </a:pPr>
            <a:r>
              <a:rPr lang="en-US" sz="3270">
                <a:solidFill>
                  <a:srgbClr val="000000"/>
                </a:solidFill>
                <a:latin typeface="Times New Roman"/>
                <a:ea typeface="Times New Roman"/>
                <a:cs typeface="Times New Roman"/>
                <a:sym typeface="Times New Roman"/>
              </a:rPr>
              <a:t>Description: Use the landmark predictor model to map the key geometric points of the face.</a:t>
            </a:r>
          </a:p>
          <a:p>
            <a:pPr algn="l">
              <a:lnSpc>
                <a:spcPts val="4578"/>
              </a:lnSpc>
              <a:spcBef>
                <a:spcPct val="0"/>
              </a:spcBef>
            </a:pPr>
            <a:r>
              <a:rPr lang="en-US" sz="3270">
                <a:solidFill>
                  <a:srgbClr val="000000"/>
                </a:solidFill>
                <a:latin typeface="Times New Roman"/>
                <a:ea typeface="Times New Roman"/>
                <a:cs typeface="Times New Roman"/>
                <a:sym typeface="Times New Roman"/>
              </a:rPr>
              <a:t>Next Step: Simultaneously proceed to Step 5 (Classification Path) and Step 7 (Augmentation Path).</a:t>
            </a:r>
          </a:p>
          <a:p>
            <a:pPr algn="l">
              <a:lnSpc>
                <a:spcPts val="4578"/>
              </a:lnSpc>
              <a:spcBef>
                <a:spcPct val="0"/>
              </a:spcBef>
            </a:pPr>
            <a:r>
              <a:rPr lang="en-US" sz="3270">
                <a:solidFill>
                  <a:srgbClr val="000000"/>
                </a:solidFill>
                <a:latin typeface="Times New Roman"/>
                <a:ea typeface="Times New Roman"/>
                <a:cs typeface="Times New Roman"/>
                <a:sym typeface="Times New Roman"/>
              </a:rPr>
              <a:t>Classification Path (Face Shape)</a:t>
            </a:r>
          </a:p>
        </p:txBody>
      </p:sp>
      <p:sp>
        <p:nvSpPr>
          <p:cNvPr name="TextBox 7" id="7"/>
          <p:cNvSpPr txBox="true"/>
          <p:nvPr/>
        </p:nvSpPr>
        <p:spPr>
          <a:xfrm rot="0">
            <a:off x="885602" y="4269020"/>
            <a:ext cx="17402398" cy="8269054"/>
          </a:xfrm>
          <a:prstGeom prst="rect">
            <a:avLst/>
          </a:prstGeom>
        </p:spPr>
        <p:txBody>
          <a:bodyPr anchor="t" rtlCol="false" tIns="0" lIns="0" bIns="0" rIns="0">
            <a:spAutoFit/>
          </a:bodyPr>
          <a:lstStyle/>
          <a:p>
            <a:pPr algn="l">
              <a:lnSpc>
                <a:spcPts val="4650"/>
              </a:lnSpc>
              <a:spcBef>
                <a:spcPct val="0"/>
              </a:spcBef>
            </a:pPr>
            <a:r>
              <a:rPr lang="en-US" sz="3321">
                <a:solidFill>
                  <a:srgbClr val="000000"/>
                </a:solidFill>
                <a:latin typeface="Times New Roman"/>
                <a:ea typeface="Times New Roman"/>
                <a:cs typeface="Times New Roman"/>
                <a:sym typeface="Times New Roman"/>
              </a:rPr>
              <a:t>Step 5: EXTRACT GEOMETRIC FEATURES (RATIOS)</a:t>
            </a:r>
          </a:p>
          <a:p>
            <a:pPr algn="l">
              <a:lnSpc>
                <a:spcPts val="4650"/>
              </a:lnSpc>
              <a:spcBef>
                <a:spcPct val="0"/>
              </a:spcBef>
            </a:pPr>
            <a:r>
              <a:rPr lang="en-US" sz="3321">
                <a:solidFill>
                  <a:srgbClr val="000000"/>
                </a:solidFill>
                <a:latin typeface="Times New Roman"/>
                <a:ea typeface="Times New Roman"/>
                <a:cs typeface="Times New Roman"/>
                <a:sym typeface="Times New Roman"/>
              </a:rPr>
              <a:t>Action: Calculate facial measurements.</a:t>
            </a:r>
          </a:p>
          <a:p>
            <a:pPr algn="l">
              <a:lnSpc>
                <a:spcPts val="4650"/>
              </a:lnSpc>
              <a:spcBef>
                <a:spcPct val="0"/>
              </a:spcBef>
            </a:pPr>
            <a:r>
              <a:rPr lang="en-US" sz="3321">
                <a:solidFill>
                  <a:srgbClr val="000000"/>
                </a:solidFill>
                <a:latin typeface="Times New Roman"/>
                <a:ea typeface="Times New Roman"/>
                <a:cs typeface="Times New Roman"/>
                <a:sym typeface="Times New Roman"/>
              </a:rPr>
              <a:t>Description: Use the 68 landmarks to compute specific distance ratios (e.g., width-to-length ratios) that define the face shape.</a:t>
            </a:r>
          </a:p>
          <a:p>
            <a:pPr algn="l">
              <a:lnSpc>
                <a:spcPts val="4650"/>
              </a:lnSpc>
              <a:spcBef>
                <a:spcPct val="0"/>
              </a:spcBef>
            </a:pPr>
          </a:p>
          <a:p>
            <a:pPr algn="l">
              <a:lnSpc>
                <a:spcPts val="4650"/>
              </a:lnSpc>
              <a:spcBef>
                <a:spcPct val="0"/>
              </a:spcBef>
            </a:pPr>
            <a:r>
              <a:rPr lang="en-US" sz="3321">
                <a:solidFill>
                  <a:srgbClr val="000000"/>
                </a:solidFill>
                <a:latin typeface="Times New Roman"/>
                <a:ea typeface="Times New Roman"/>
                <a:cs typeface="Times New Roman"/>
                <a:sym typeface="Times New Roman"/>
              </a:rPr>
              <a:t>Step 6: ML MODEL: CLASSIFY FACE SHAPE</a:t>
            </a:r>
          </a:p>
          <a:p>
            <a:pPr algn="l">
              <a:lnSpc>
                <a:spcPts val="4650"/>
              </a:lnSpc>
              <a:spcBef>
                <a:spcPct val="0"/>
              </a:spcBef>
            </a:pPr>
            <a:r>
              <a:rPr lang="en-US" sz="3321">
                <a:solidFill>
                  <a:srgbClr val="000000"/>
                </a:solidFill>
                <a:latin typeface="Times New Roman"/>
                <a:ea typeface="Times New Roman"/>
                <a:cs typeface="Times New Roman"/>
                <a:sym typeface="Times New Roman"/>
              </a:rPr>
              <a:t>Action: Run the classification model.</a:t>
            </a:r>
          </a:p>
          <a:p>
            <a:pPr algn="l">
              <a:lnSpc>
                <a:spcPts val="4650"/>
              </a:lnSpc>
              <a:spcBef>
                <a:spcPct val="0"/>
              </a:spcBef>
            </a:pPr>
            <a:r>
              <a:rPr lang="en-US" sz="3321">
                <a:solidFill>
                  <a:srgbClr val="000000"/>
                </a:solidFill>
                <a:latin typeface="Times New Roman"/>
                <a:ea typeface="Times New Roman"/>
                <a:cs typeface="Times New Roman"/>
                <a:sym typeface="Times New Roman"/>
              </a:rPr>
              <a:t>Description: Input the geometric features into the trained ML model to output the face shape result (e.g., 'Oval', 'Square').</a:t>
            </a:r>
          </a:p>
          <a:p>
            <a:pPr algn="l">
              <a:lnSpc>
                <a:spcPts val="4650"/>
              </a:lnSpc>
              <a:spcBef>
                <a:spcPct val="0"/>
              </a:spcBef>
            </a:pPr>
          </a:p>
          <a:p>
            <a:pPr algn="l">
              <a:lnSpc>
                <a:spcPts val="4650"/>
              </a:lnSpc>
              <a:spcBef>
                <a:spcPct val="0"/>
              </a:spcBef>
            </a:pPr>
            <a:r>
              <a:rPr lang="en-US" sz="3321">
                <a:solidFill>
                  <a:srgbClr val="000000"/>
                </a:solidFill>
                <a:latin typeface="Times New Roman"/>
                <a:ea typeface="Times New Roman"/>
                <a:cs typeface="Times New Roman"/>
                <a:sym typeface="Times New Roman"/>
              </a:rPr>
              <a:t>Step 7: DISPLAY FACE SHAPE &amp; SUGGESTIONS</a:t>
            </a:r>
          </a:p>
          <a:p>
            <a:pPr algn="l">
              <a:lnSpc>
                <a:spcPts val="4650"/>
              </a:lnSpc>
              <a:spcBef>
                <a:spcPct val="0"/>
              </a:spcBef>
            </a:pPr>
            <a:r>
              <a:rPr lang="en-US" sz="3321">
                <a:solidFill>
                  <a:srgbClr val="000000"/>
                </a:solidFill>
                <a:latin typeface="Times New Roman"/>
                <a:ea typeface="Times New Roman"/>
                <a:cs typeface="Times New Roman"/>
                <a:sym typeface="Times New Roman"/>
              </a:rPr>
              <a:t>Action: Prepare face shape output for the user.</a:t>
            </a:r>
          </a:p>
          <a:p>
            <a:pPr algn="l">
              <a:lnSpc>
                <a:spcPts val="4650"/>
              </a:lnSpc>
              <a:spcBef>
                <a:spcPct val="0"/>
              </a:spcBef>
            </a:pPr>
            <a:r>
              <a:rPr lang="en-US" sz="3321">
                <a:solidFill>
                  <a:srgbClr val="000000"/>
                </a:solidFill>
                <a:latin typeface="Times New Roman"/>
                <a:ea typeface="Times New Roman"/>
                <a:cs typeface="Times New Roman"/>
                <a:sym typeface="Times New Roman"/>
              </a:rPr>
              <a:t>Description: Generate text/graphics displaying the classified face shape and tailored style suggestions.</a:t>
            </a:r>
          </a:p>
          <a:p>
            <a:pPr algn="l">
              <a:lnSpc>
                <a:spcPts val="4650"/>
              </a:lnSpc>
              <a:spcBef>
                <a:spcPct val="0"/>
              </a:spcBef>
            </a:pPr>
            <a:r>
              <a:rPr lang="en-US" sz="3321">
                <a:solidFill>
                  <a:srgbClr val="000000"/>
                </a:solidFill>
                <a:latin typeface="Times New Roman"/>
                <a:ea typeface="Times New Roman"/>
                <a:cs typeface="Times New Roman"/>
                <a:sym typeface="Times New Roman"/>
              </a:rPr>
              <a:t>Next Step (Merge): Go to Step 12. Augmentation Path (Accessory Overlay)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false" flipV="false" rot="0">
            <a:off x="149138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228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431084" y="-171450"/>
            <a:ext cx="9672231" cy="1257043"/>
          </a:xfrm>
          <a:prstGeom prst="rect">
            <a:avLst/>
          </a:prstGeom>
        </p:spPr>
        <p:txBody>
          <a:bodyPr anchor="t" rtlCol="false" tIns="0" lIns="0" bIns="0" rIns="0">
            <a:spAutoFit/>
          </a:bodyPr>
          <a:lstStyle/>
          <a:p>
            <a:pPr algn="ctr">
              <a:lnSpc>
                <a:spcPts val="9989"/>
              </a:lnSpc>
            </a:pPr>
            <a:r>
              <a:rPr lang="en-US" b="true" sz="7135">
                <a:solidFill>
                  <a:srgbClr val="000000"/>
                </a:solidFill>
                <a:latin typeface="Times New Roman Bold"/>
                <a:ea typeface="Times New Roman Bold"/>
                <a:cs typeface="Times New Roman Bold"/>
                <a:sym typeface="Times New Roman Bold"/>
              </a:rPr>
              <a:t>ALGORITHM</a:t>
            </a:r>
          </a:p>
        </p:txBody>
      </p:sp>
      <p:sp>
        <p:nvSpPr>
          <p:cNvPr name="TextBox 6" id="6"/>
          <p:cNvSpPr txBox="true"/>
          <p:nvPr/>
        </p:nvSpPr>
        <p:spPr>
          <a:xfrm rot="0">
            <a:off x="609661" y="1417436"/>
            <a:ext cx="17088464" cy="8127492"/>
          </a:xfrm>
          <a:prstGeom prst="rect">
            <a:avLst/>
          </a:prstGeom>
        </p:spPr>
        <p:txBody>
          <a:bodyPr anchor="t" rtlCol="false" tIns="0" lIns="0" bIns="0" rIns="0">
            <a:spAutoFit/>
          </a:bodyPr>
          <a:lstStyle/>
          <a:p>
            <a:pPr algn="l">
              <a:lnSpc>
                <a:spcPts val="4578"/>
              </a:lnSpc>
              <a:spcBef>
                <a:spcPct val="0"/>
              </a:spcBef>
            </a:pPr>
            <a:r>
              <a:rPr lang="en-US" sz="3270">
                <a:solidFill>
                  <a:srgbClr val="000000"/>
                </a:solidFill>
                <a:latin typeface="Times New Roman"/>
                <a:ea typeface="Times New Roman"/>
                <a:cs typeface="Times New Roman"/>
                <a:sym typeface="Times New Roman"/>
              </a:rPr>
              <a:t>Step 7: DISPLAY FACE SHAPE &amp; SUGGESTIONS</a:t>
            </a:r>
          </a:p>
          <a:p>
            <a:pPr algn="l">
              <a:lnSpc>
                <a:spcPts val="4578"/>
              </a:lnSpc>
              <a:spcBef>
                <a:spcPct val="0"/>
              </a:spcBef>
            </a:pPr>
            <a:r>
              <a:rPr lang="en-US" sz="3270">
                <a:solidFill>
                  <a:srgbClr val="000000"/>
                </a:solidFill>
                <a:latin typeface="Times New Roman"/>
                <a:ea typeface="Times New Roman"/>
                <a:cs typeface="Times New Roman"/>
                <a:sym typeface="Times New Roman"/>
              </a:rPr>
              <a:t>Action: Prepare face shape output for the user.</a:t>
            </a:r>
          </a:p>
          <a:p>
            <a:pPr algn="l">
              <a:lnSpc>
                <a:spcPts val="4578"/>
              </a:lnSpc>
              <a:spcBef>
                <a:spcPct val="0"/>
              </a:spcBef>
            </a:pPr>
            <a:r>
              <a:rPr lang="en-US" sz="3270">
                <a:solidFill>
                  <a:srgbClr val="000000"/>
                </a:solidFill>
                <a:latin typeface="Times New Roman"/>
                <a:ea typeface="Times New Roman"/>
                <a:cs typeface="Times New Roman"/>
                <a:sym typeface="Times New Roman"/>
              </a:rPr>
              <a:t>Description: Generate text/graphics displaying the classified face shape and tailored style suggestions.</a:t>
            </a:r>
          </a:p>
          <a:p>
            <a:pPr algn="l">
              <a:lnSpc>
                <a:spcPts val="4578"/>
              </a:lnSpc>
              <a:spcBef>
                <a:spcPct val="0"/>
              </a:spcBef>
            </a:pPr>
            <a:r>
              <a:rPr lang="en-US" sz="3270">
                <a:solidFill>
                  <a:srgbClr val="000000"/>
                </a:solidFill>
                <a:latin typeface="Times New Roman"/>
                <a:ea typeface="Times New Roman"/>
                <a:cs typeface="Times New Roman"/>
                <a:sym typeface="Times New Roman"/>
              </a:rPr>
              <a:t>Next Step (Merge): Go to Step 12. Augmentation Path (Accessory Overlay)</a:t>
            </a:r>
          </a:p>
          <a:p>
            <a:pPr algn="l">
              <a:lnSpc>
                <a:spcPts val="4578"/>
              </a:lnSpc>
              <a:spcBef>
                <a:spcPct val="0"/>
              </a:spcBef>
            </a:pPr>
          </a:p>
          <a:p>
            <a:pPr algn="l">
              <a:lnSpc>
                <a:spcPts val="4578"/>
              </a:lnSpc>
              <a:spcBef>
                <a:spcPct val="0"/>
              </a:spcBef>
            </a:pPr>
            <a:r>
              <a:rPr lang="en-US" sz="3270">
                <a:solidFill>
                  <a:srgbClr val="000000"/>
                </a:solidFill>
                <a:latin typeface="Times New Roman"/>
                <a:ea typeface="Times New Roman"/>
                <a:cs typeface="Times New Roman"/>
                <a:sym typeface="Times New Roman"/>
              </a:rPr>
              <a:t>Step 8: CALCULATE HEAD POSE ANGLE &amp; SCALE</a:t>
            </a:r>
          </a:p>
          <a:p>
            <a:pPr algn="l">
              <a:lnSpc>
                <a:spcPts val="4578"/>
              </a:lnSpc>
              <a:spcBef>
                <a:spcPct val="0"/>
              </a:spcBef>
            </a:pPr>
            <a:r>
              <a:rPr lang="en-US" sz="3270">
                <a:solidFill>
                  <a:srgbClr val="000000"/>
                </a:solidFill>
                <a:latin typeface="Times New Roman"/>
                <a:ea typeface="Times New Roman"/>
                <a:cs typeface="Times New Roman"/>
                <a:sym typeface="Times New Roman"/>
              </a:rPr>
              <a:t>Action: Determine 3D orientation and size.</a:t>
            </a:r>
          </a:p>
          <a:p>
            <a:pPr algn="l">
              <a:lnSpc>
                <a:spcPts val="4578"/>
              </a:lnSpc>
              <a:spcBef>
                <a:spcPct val="0"/>
              </a:spcBef>
            </a:pPr>
            <a:r>
              <a:rPr lang="en-US" sz="3270">
                <a:solidFill>
                  <a:srgbClr val="000000"/>
                </a:solidFill>
                <a:latin typeface="Times New Roman"/>
                <a:ea typeface="Times New Roman"/>
                <a:cs typeface="Times New Roman"/>
                <a:sym typeface="Times New Roman"/>
              </a:rPr>
              <a:t>Description: Use the landmarks to calculate the head's rotation (pitch, yaw, roll) and scale relative to the camera.</a:t>
            </a:r>
          </a:p>
          <a:p>
            <a:pPr algn="l">
              <a:lnSpc>
                <a:spcPts val="4578"/>
              </a:lnSpc>
              <a:spcBef>
                <a:spcPct val="0"/>
              </a:spcBef>
            </a:pPr>
          </a:p>
          <a:p>
            <a:pPr algn="l">
              <a:lnSpc>
                <a:spcPts val="4578"/>
              </a:lnSpc>
              <a:spcBef>
                <a:spcPct val="0"/>
              </a:spcBef>
            </a:pPr>
            <a:r>
              <a:rPr lang="en-US" sz="3270">
                <a:solidFill>
                  <a:srgbClr val="000000"/>
                </a:solidFill>
                <a:latin typeface="Times New Roman"/>
                <a:ea typeface="Times New Roman"/>
                <a:cs typeface="Times New Roman"/>
                <a:sym typeface="Times New Roman"/>
              </a:rPr>
              <a:t>Step 9: APPLY ROTATION &amp; SCALING TO ACCESSORY IMAGE</a:t>
            </a:r>
          </a:p>
          <a:p>
            <a:pPr algn="l">
              <a:lnSpc>
                <a:spcPts val="4578"/>
              </a:lnSpc>
              <a:spcBef>
                <a:spcPct val="0"/>
              </a:spcBef>
            </a:pPr>
            <a:r>
              <a:rPr lang="en-US" sz="3270">
                <a:solidFill>
                  <a:srgbClr val="000000"/>
                </a:solidFill>
                <a:latin typeface="Times New Roman"/>
                <a:ea typeface="Times New Roman"/>
                <a:cs typeface="Times New Roman"/>
                <a:sym typeface="Times New Roman"/>
              </a:rPr>
              <a:t>Action: Transform the accessory graphic.</a:t>
            </a:r>
          </a:p>
          <a:p>
            <a:pPr algn="l">
              <a:lnSpc>
                <a:spcPts val="4578"/>
              </a:lnSpc>
              <a:spcBef>
                <a:spcPct val="0"/>
              </a:spcBef>
            </a:pPr>
            <a:r>
              <a:rPr lang="en-US" sz="3270">
                <a:solidFill>
                  <a:srgbClr val="000000"/>
                </a:solidFill>
                <a:latin typeface="Times New Roman"/>
                <a:ea typeface="Times New Roman"/>
                <a:cs typeface="Times New Roman"/>
                <a:sym typeface="Times New Roman"/>
              </a:rPr>
              <a:t>Description: Adjust the virtual accessory (e.g., sunglasses, hat) to match the calculated head pose and scale.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false" flipV="false" rot="0">
            <a:off x="149138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228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431084" y="-171450"/>
            <a:ext cx="9672231" cy="1257043"/>
          </a:xfrm>
          <a:prstGeom prst="rect">
            <a:avLst/>
          </a:prstGeom>
        </p:spPr>
        <p:txBody>
          <a:bodyPr anchor="t" rtlCol="false" tIns="0" lIns="0" bIns="0" rIns="0">
            <a:spAutoFit/>
          </a:bodyPr>
          <a:lstStyle/>
          <a:p>
            <a:pPr algn="ctr">
              <a:lnSpc>
                <a:spcPts val="9989"/>
              </a:lnSpc>
            </a:pPr>
            <a:r>
              <a:rPr lang="en-US" b="true" sz="7135">
                <a:solidFill>
                  <a:srgbClr val="000000"/>
                </a:solidFill>
                <a:latin typeface="Times New Roman Bold"/>
                <a:ea typeface="Times New Roman Bold"/>
                <a:cs typeface="Times New Roman Bold"/>
                <a:sym typeface="Times New Roman Bold"/>
              </a:rPr>
              <a:t>ALGORITHM</a:t>
            </a:r>
          </a:p>
        </p:txBody>
      </p:sp>
      <p:sp>
        <p:nvSpPr>
          <p:cNvPr name="TextBox 6" id="6"/>
          <p:cNvSpPr txBox="true"/>
          <p:nvPr/>
        </p:nvSpPr>
        <p:spPr>
          <a:xfrm rot="0">
            <a:off x="721407" y="933450"/>
            <a:ext cx="17843793" cy="9157044"/>
          </a:xfrm>
          <a:prstGeom prst="rect">
            <a:avLst/>
          </a:prstGeom>
        </p:spPr>
        <p:txBody>
          <a:bodyPr anchor="t" rtlCol="false" tIns="0" lIns="0" bIns="0" rIns="0">
            <a:spAutoFit/>
          </a:bodyPr>
          <a:lstStyle/>
          <a:p>
            <a:pPr algn="l">
              <a:lnSpc>
                <a:spcPts val="4531"/>
              </a:lnSpc>
              <a:spcBef>
                <a:spcPct val="0"/>
              </a:spcBef>
            </a:pPr>
            <a:r>
              <a:rPr lang="en-US" sz="3236">
                <a:solidFill>
                  <a:srgbClr val="000000"/>
                </a:solidFill>
                <a:latin typeface="Times New Roman"/>
                <a:ea typeface="Times New Roman"/>
                <a:cs typeface="Times New Roman"/>
                <a:sym typeface="Times New Roman"/>
              </a:rPr>
              <a:t>Step 10: OVERLAY ACCESSORY ONTO FACE USING ALPHA BLENDING</a:t>
            </a:r>
          </a:p>
          <a:p>
            <a:pPr algn="l">
              <a:lnSpc>
                <a:spcPts val="4531"/>
              </a:lnSpc>
              <a:spcBef>
                <a:spcPct val="0"/>
              </a:spcBef>
            </a:pPr>
            <a:r>
              <a:rPr lang="en-US" sz="3236">
                <a:solidFill>
                  <a:srgbClr val="000000"/>
                </a:solidFill>
                <a:latin typeface="Times New Roman"/>
                <a:ea typeface="Times New Roman"/>
                <a:cs typeface="Times New Roman"/>
                <a:sym typeface="Times New Roman"/>
              </a:rPr>
              <a:t>Action: Merge the accessory and the frame.</a:t>
            </a:r>
          </a:p>
          <a:p>
            <a:pPr algn="l">
              <a:lnSpc>
                <a:spcPts val="4531"/>
              </a:lnSpc>
              <a:spcBef>
                <a:spcPct val="0"/>
              </a:spcBef>
            </a:pPr>
            <a:r>
              <a:rPr lang="en-US" sz="3236">
                <a:solidFill>
                  <a:srgbClr val="000000"/>
                </a:solidFill>
                <a:latin typeface="Times New Roman"/>
                <a:ea typeface="Times New Roman"/>
                <a:cs typeface="Times New Roman"/>
                <a:sym typeface="Times New Roman"/>
              </a:rPr>
              <a:t>Description: Combine the transformed accessory with the original input frame, using alpha blending for realistic transparency and integration.</a:t>
            </a:r>
          </a:p>
          <a:p>
            <a:pPr algn="l">
              <a:lnSpc>
                <a:spcPts val="4531"/>
              </a:lnSpc>
              <a:spcBef>
                <a:spcPct val="0"/>
              </a:spcBef>
            </a:pPr>
            <a:r>
              <a:rPr lang="en-US" sz="3236">
                <a:solidFill>
                  <a:srgbClr val="000000"/>
                </a:solidFill>
                <a:latin typeface="Times New Roman"/>
                <a:ea typeface="Times New Roman"/>
                <a:cs typeface="Times New Roman"/>
                <a:sym typeface="Times New Roman"/>
              </a:rPr>
              <a:t>Next Step (Merge): Go to Step 12. Error Handling and Loop</a:t>
            </a:r>
          </a:p>
          <a:p>
            <a:pPr algn="l">
              <a:lnSpc>
                <a:spcPts val="4531"/>
              </a:lnSpc>
              <a:spcBef>
                <a:spcPct val="0"/>
              </a:spcBef>
            </a:pPr>
          </a:p>
          <a:p>
            <a:pPr algn="l">
              <a:lnSpc>
                <a:spcPts val="4531"/>
              </a:lnSpc>
              <a:spcBef>
                <a:spcPct val="0"/>
              </a:spcBef>
            </a:pPr>
            <a:r>
              <a:rPr lang="en-US" sz="3236">
                <a:solidFill>
                  <a:srgbClr val="000000"/>
                </a:solidFill>
                <a:latin typeface="Times New Roman"/>
                <a:ea typeface="Times New Roman"/>
                <a:cs typeface="Times New Roman"/>
                <a:sym typeface="Times New Roman"/>
              </a:rPr>
              <a:t>Step 11: NO FACE DETECTED</a:t>
            </a:r>
          </a:p>
          <a:p>
            <a:pPr algn="l">
              <a:lnSpc>
                <a:spcPts val="4531"/>
              </a:lnSpc>
              <a:spcBef>
                <a:spcPct val="0"/>
              </a:spcBef>
            </a:pPr>
            <a:r>
              <a:rPr lang="en-US" sz="3236">
                <a:solidFill>
                  <a:srgbClr val="000000"/>
                </a:solidFill>
                <a:latin typeface="Times New Roman"/>
                <a:ea typeface="Times New Roman"/>
                <a:cs typeface="Times New Roman"/>
                <a:sym typeface="Times New Roman"/>
              </a:rPr>
              <a:t>Action: Skip processing.</a:t>
            </a:r>
          </a:p>
          <a:p>
            <a:pPr algn="l">
              <a:lnSpc>
                <a:spcPts val="4531"/>
              </a:lnSpc>
              <a:spcBef>
                <a:spcPct val="0"/>
              </a:spcBef>
            </a:pPr>
            <a:r>
              <a:rPr lang="en-US" sz="3236">
                <a:solidFill>
                  <a:srgbClr val="000000"/>
                </a:solidFill>
                <a:latin typeface="Times New Roman"/>
                <a:ea typeface="Times New Roman"/>
                <a:cs typeface="Times New Roman"/>
                <a:sym typeface="Times New Roman"/>
              </a:rPr>
              <a:t>Description: No landmarks or calculations are performed. The original frame (or a 'No Face' message) is maintained.</a:t>
            </a:r>
          </a:p>
          <a:p>
            <a:pPr algn="l">
              <a:lnSpc>
                <a:spcPts val="4531"/>
              </a:lnSpc>
              <a:spcBef>
                <a:spcPct val="0"/>
              </a:spcBef>
            </a:pPr>
            <a:r>
              <a:rPr lang="en-US" sz="3236">
                <a:solidFill>
                  <a:srgbClr val="000000"/>
                </a:solidFill>
                <a:latin typeface="Times New Roman"/>
                <a:ea typeface="Times New Roman"/>
                <a:cs typeface="Times New Roman"/>
                <a:sym typeface="Times New Roman"/>
              </a:rPr>
              <a:t>Next Step (Merge): Go to Step 12.</a:t>
            </a:r>
          </a:p>
          <a:p>
            <a:pPr algn="l">
              <a:lnSpc>
                <a:spcPts val="4531"/>
              </a:lnSpc>
              <a:spcBef>
                <a:spcPct val="0"/>
              </a:spcBef>
            </a:pPr>
            <a:r>
              <a:rPr lang="en-US" sz="3236">
                <a:solidFill>
                  <a:srgbClr val="000000"/>
                </a:solidFill>
                <a:latin typeface="Times New Roman"/>
                <a:ea typeface="Times New Roman"/>
                <a:cs typeface="Times New Roman"/>
                <a:sym typeface="Times New Roman"/>
              </a:rPr>
              <a:t> </a:t>
            </a:r>
          </a:p>
          <a:p>
            <a:pPr algn="l">
              <a:lnSpc>
                <a:spcPts val="4531"/>
              </a:lnSpc>
              <a:spcBef>
                <a:spcPct val="0"/>
              </a:spcBef>
            </a:pPr>
            <a:r>
              <a:rPr lang="en-US" sz="3236">
                <a:solidFill>
                  <a:srgbClr val="000000"/>
                </a:solidFill>
                <a:latin typeface="Times New Roman"/>
                <a:ea typeface="Times New Roman"/>
                <a:cs typeface="Times New Roman"/>
                <a:sym typeface="Times New Roman"/>
              </a:rPr>
              <a:t>Step 12: DISPLAY AUGMENTED FRAME TO USER</a:t>
            </a:r>
          </a:p>
          <a:p>
            <a:pPr algn="l">
              <a:lnSpc>
                <a:spcPts val="4531"/>
              </a:lnSpc>
              <a:spcBef>
                <a:spcPct val="0"/>
              </a:spcBef>
            </a:pPr>
            <a:r>
              <a:rPr lang="en-US" sz="3236">
                <a:solidFill>
                  <a:srgbClr val="000000"/>
                </a:solidFill>
                <a:latin typeface="Times New Roman"/>
                <a:ea typeface="Times New Roman"/>
                <a:cs typeface="Times New Roman"/>
                <a:sym typeface="Times New Roman"/>
              </a:rPr>
              <a:t>Action: Present the final output.</a:t>
            </a:r>
          </a:p>
          <a:p>
            <a:pPr algn="l">
              <a:lnSpc>
                <a:spcPts val="4531"/>
              </a:lnSpc>
              <a:spcBef>
                <a:spcPct val="0"/>
              </a:spcBef>
            </a:pPr>
            <a:r>
              <a:rPr lang="en-US" sz="3236">
                <a:solidFill>
                  <a:srgbClr val="000000"/>
                </a:solidFill>
                <a:latin typeface="Times New Roman"/>
                <a:ea typeface="Times New Roman"/>
                <a:cs typeface="Times New Roman"/>
                <a:sym typeface="Times New Roman"/>
              </a:rPr>
              <a:t>Description: Display the processed image to the user. This frame includes the augmented accessory overlay (if applicable) and the face shape information/suggestions.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false" flipV="false" rot="0">
            <a:off x="149138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228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431084" y="-171450"/>
            <a:ext cx="9672231" cy="1257043"/>
          </a:xfrm>
          <a:prstGeom prst="rect">
            <a:avLst/>
          </a:prstGeom>
        </p:spPr>
        <p:txBody>
          <a:bodyPr anchor="t" rtlCol="false" tIns="0" lIns="0" bIns="0" rIns="0">
            <a:spAutoFit/>
          </a:bodyPr>
          <a:lstStyle/>
          <a:p>
            <a:pPr algn="ctr">
              <a:lnSpc>
                <a:spcPts val="9989"/>
              </a:lnSpc>
            </a:pPr>
            <a:r>
              <a:rPr lang="en-US" b="true" sz="7135">
                <a:solidFill>
                  <a:srgbClr val="000000"/>
                </a:solidFill>
                <a:latin typeface="Times New Roman Bold"/>
                <a:ea typeface="Times New Roman Bold"/>
                <a:cs typeface="Times New Roman Bold"/>
                <a:sym typeface="Times New Roman Bold"/>
              </a:rPr>
              <a:t>ALGORITHM</a:t>
            </a:r>
          </a:p>
        </p:txBody>
      </p:sp>
      <p:sp>
        <p:nvSpPr>
          <p:cNvPr name="TextBox 6" id="6"/>
          <p:cNvSpPr txBox="true"/>
          <p:nvPr/>
        </p:nvSpPr>
        <p:spPr>
          <a:xfrm rot="0">
            <a:off x="684898" y="2157417"/>
            <a:ext cx="16918204" cy="4308932"/>
          </a:xfrm>
          <a:prstGeom prst="rect">
            <a:avLst/>
          </a:prstGeom>
        </p:spPr>
        <p:txBody>
          <a:bodyPr anchor="t" rtlCol="false" tIns="0" lIns="0" bIns="0" rIns="0">
            <a:spAutoFit/>
          </a:bodyPr>
          <a:lstStyle/>
          <a:p>
            <a:pPr algn="l">
              <a:lnSpc>
                <a:spcPts val="4235"/>
              </a:lnSpc>
              <a:spcBef>
                <a:spcPct val="0"/>
              </a:spcBef>
            </a:pPr>
            <a:r>
              <a:rPr lang="en-US" sz="3025">
                <a:solidFill>
                  <a:srgbClr val="000000"/>
                </a:solidFill>
                <a:latin typeface="Times New Roman"/>
                <a:ea typeface="Times New Roman"/>
                <a:cs typeface="Times New Roman"/>
                <a:sym typeface="Times New Roman"/>
              </a:rPr>
              <a:t>Step 13: DECISION: USER QUITS LOOP?</a:t>
            </a:r>
          </a:p>
          <a:p>
            <a:pPr algn="l">
              <a:lnSpc>
                <a:spcPts val="4235"/>
              </a:lnSpc>
              <a:spcBef>
                <a:spcPct val="0"/>
              </a:spcBef>
            </a:pPr>
            <a:r>
              <a:rPr lang="en-US" sz="3025">
                <a:solidFill>
                  <a:srgbClr val="000000"/>
                </a:solidFill>
                <a:latin typeface="Times New Roman"/>
                <a:ea typeface="Times New Roman"/>
                <a:cs typeface="Times New Roman"/>
                <a:sym typeface="Times New Roman"/>
              </a:rPr>
              <a:t>Action: Check for user termination.</a:t>
            </a:r>
          </a:p>
          <a:p>
            <a:pPr algn="l">
              <a:lnSpc>
                <a:spcPts val="4235"/>
              </a:lnSpc>
              <a:spcBef>
                <a:spcPct val="0"/>
              </a:spcBef>
            </a:pPr>
            <a:r>
              <a:rPr lang="en-US" sz="3025">
                <a:solidFill>
                  <a:srgbClr val="000000"/>
                </a:solidFill>
                <a:latin typeface="Times New Roman"/>
                <a:ea typeface="Times New Roman"/>
                <a:cs typeface="Times New Roman"/>
                <a:sym typeface="Times New Roman"/>
              </a:rPr>
              <a:t>Description: Continuously check for a user input (e.g., clicking a 'Stop' button). If NO (Continue), go back to Step 2. If YES (Stop), go to Step 14.</a:t>
            </a:r>
          </a:p>
          <a:p>
            <a:pPr algn="l">
              <a:lnSpc>
                <a:spcPts val="4235"/>
              </a:lnSpc>
              <a:spcBef>
                <a:spcPct val="0"/>
              </a:spcBef>
            </a:pPr>
          </a:p>
          <a:p>
            <a:pPr algn="l">
              <a:lnSpc>
                <a:spcPts val="4235"/>
              </a:lnSpc>
              <a:spcBef>
                <a:spcPct val="0"/>
              </a:spcBef>
            </a:pPr>
            <a:r>
              <a:rPr lang="en-US" sz="3025">
                <a:solidFill>
                  <a:srgbClr val="000000"/>
                </a:solidFill>
                <a:latin typeface="Times New Roman"/>
                <a:ea typeface="Times New Roman"/>
                <a:cs typeface="Times New Roman"/>
                <a:sym typeface="Times New Roman"/>
              </a:rPr>
              <a:t>Step 14: STOP APPLICATION</a:t>
            </a:r>
          </a:p>
          <a:p>
            <a:pPr algn="l">
              <a:lnSpc>
                <a:spcPts val="4235"/>
              </a:lnSpc>
              <a:spcBef>
                <a:spcPct val="0"/>
              </a:spcBef>
            </a:pPr>
            <a:r>
              <a:rPr lang="en-US" sz="3025">
                <a:solidFill>
                  <a:srgbClr val="000000"/>
                </a:solidFill>
                <a:latin typeface="Times New Roman"/>
                <a:ea typeface="Times New Roman"/>
                <a:cs typeface="Times New Roman"/>
                <a:sym typeface="Times New Roman"/>
              </a:rPr>
              <a:t>Action: Gracefully shut down.</a:t>
            </a:r>
          </a:p>
          <a:p>
            <a:pPr algn="l">
              <a:lnSpc>
                <a:spcPts val="4235"/>
              </a:lnSpc>
              <a:spcBef>
                <a:spcPct val="0"/>
              </a:spcBef>
            </a:pPr>
            <a:r>
              <a:rPr lang="en-US" sz="3025">
                <a:solidFill>
                  <a:srgbClr val="000000"/>
                </a:solidFill>
                <a:latin typeface="Times New Roman"/>
                <a:ea typeface="Times New Roman"/>
                <a:cs typeface="Times New Roman"/>
                <a:sym typeface="Times New Roman"/>
              </a:rPr>
              <a:t>Description: De-initialize the webcam feed and models, then terminate the application.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4922503" y="1302296"/>
            <a:ext cx="8734989" cy="8593045"/>
          </a:xfrm>
          <a:custGeom>
            <a:avLst/>
            <a:gdLst/>
            <a:ahLst/>
            <a:cxnLst/>
            <a:rect r="r" b="b" t="t" l="l"/>
            <a:pathLst>
              <a:path h="8593045" w="8734989">
                <a:moveTo>
                  <a:pt x="0" y="0"/>
                </a:moveTo>
                <a:lnTo>
                  <a:pt x="8734989" y="0"/>
                </a:lnTo>
                <a:lnTo>
                  <a:pt x="8734989" y="8593045"/>
                </a:lnTo>
                <a:lnTo>
                  <a:pt x="0" y="8593045"/>
                </a:lnTo>
                <a:lnTo>
                  <a:pt x="0" y="0"/>
                </a:lnTo>
                <a:close/>
              </a:path>
            </a:pathLst>
          </a:custGeom>
          <a:blipFill>
            <a:blip r:embed="rId5"/>
            <a:stretch>
              <a:fillRect l="0" t="0" r="0" b="0"/>
            </a:stretch>
          </a:blipFill>
        </p:spPr>
      </p:sp>
      <p:sp>
        <p:nvSpPr>
          <p:cNvPr name="TextBox 6" id="6"/>
          <p:cNvSpPr txBox="true"/>
          <p:nvPr/>
        </p:nvSpPr>
        <p:spPr>
          <a:xfrm rot="0">
            <a:off x="6269457" y="-171450"/>
            <a:ext cx="6041082" cy="1257043"/>
          </a:xfrm>
          <a:prstGeom prst="rect">
            <a:avLst/>
          </a:prstGeom>
        </p:spPr>
        <p:txBody>
          <a:bodyPr anchor="t" rtlCol="false" tIns="0" lIns="0" bIns="0" rIns="0">
            <a:spAutoFit/>
          </a:bodyPr>
          <a:lstStyle/>
          <a:p>
            <a:pPr algn="ctr" marL="0" indent="0" lvl="0">
              <a:lnSpc>
                <a:spcPts val="9989"/>
              </a:lnSpc>
              <a:spcBef>
                <a:spcPct val="0"/>
              </a:spcBef>
            </a:pPr>
            <a:r>
              <a:rPr lang="en-US" b="true" sz="7135" strike="noStrike" u="none">
                <a:solidFill>
                  <a:srgbClr val="000000"/>
                </a:solidFill>
                <a:latin typeface="Times New Roman Bold"/>
                <a:ea typeface="Times New Roman Bold"/>
                <a:cs typeface="Times New Roman Bold"/>
                <a:sym typeface="Times New Roman Bold"/>
              </a:rPr>
              <a:t>FLOWCHART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500343" y="2683318"/>
            <a:ext cx="7933381" cy="4224525"/>
          </a:xfrm>
          <a:custGeom>
            <a:avLst/>
            <a:gdLst/>
            <a:ahLst/>
            <a:cxnLst/>
            <a:rect r="r" b="b" t="t" l="l"/>
            <a:pathLst>
              <a:path h="4224525" w="7933381">
                <a:moveTo>
                  <a:pt x="0" y="0"/>
                </a:moveTo>
                <a:lnTo>
                  <a:pt x="7933380" y="0"/>
                </a:lnTo>
                <a:lnTo>
                  <a:pt x="7933380" y="4224525"/>
                </a:lnTo>
                <a:lnTo>
                  <a:pt x="0" y="4224525"/>
                </a:lnTo>
                <a:lnTo>
                  <a:pt x="0" y="0"/>
                </a:lnTo>
                <a:close/>
              </a:path>
            </a:pathLst>
          </a:custGeom>
          <a:blipFill>
            <a:blip r:embed="rId5"/>
            <a:stretch>
              <a:fillRect l="0" t="0" r="0" b="0"/>
            </a:stretch>
          </a:blipFill>
        </p:spPr>
      </p:sp>
      <p:sp>
        <p:nvSpPr>
          <p:cNvPr name="Freeform 6" id="6"/>
          <p:cNvSpPr/>
          <p:nvPr/>
        </p:nvSpPr>
        <p:spPr>
          <a:xfrm flipH="false" flipV="false" rot="0">
            <a:off x="492801" y="2683318"/>
            <a:ext cx="7933381" cy="4224525"/>
          </a:xfrm>
          <a:custGeom>
            <a:avLst/>
            <a:gdLst/>
            <a:ahLst/>
            <a:cxnLst/>
            <a:rect r="r" b="b" t="t" l="l"/>
            <a:pathLst>
              <a:path h="4224525" w="7933381">
                <a:moveTo>
                  <a:pt x="0" y="0"/>
                </a:moveTo>
                <a:lnTo>
                  <a:pt x="7933380" y="0"/>
                </a:lnTo>
                <a:lnTo>
                  <a:pt x="7933380" y="4224525"/>
                </a:lnTo>
                <a:lnTo>
                  <a:pt x="0" y="4224525"/>
                </a:lnTo>
                <a:lnTo>
                  <a:pt x="0" y="0"/>
                </a:lnTo>
                <a:close/>
              </a:path>
            </a:pathLst>
          </a:custGeom>
          <a:blipFill>
            <a:blip r:embed="rId6"/>
            <a:stretch>
              <a:fillRect l="0" t="0" r="0" b="0"/>
            </a:stretch>
          </a:blipFill>
        </p:spPr>
      </p:sp>
      <p:sp>
        <p:nvSpPr>
          <p:cNvPr name="TextBox 7" id="7"/>
          <p:cNvSpPr txBox="true"/>
          <p:nvPr/>
        </p:nvSpPr>
        <p:spPr>
          <a:xfrm rot="0">
            <a:off x="5252167" y="314453"/>
            <a:ext cx="8214866" cy="1257043"/>
          </a:xfrm>
          <a:prstGeom prst="rect">
            <a:avLst/>
          </a:prstGeom>
        </p:spPr>
        <p:txBody>
          <a:bodyPr anchor="t" rtlCol="false" tIns="0" lIns="0" bIns="0" rIns="0">
            <a:spAutoFit/>
          </a:bodyPr>
          <a:lstStyle/>
          <a:p>
            <a:pPr algn="ctr">
              <a:lnSpc>
                <a:spcPts val="9989"/>
              </a:lnSpc>
              <a:spcBef>
                <a:spcPct val="0"/>
              </a:spcBef>
            </a:pPr>
            <a:r>
              <a:rPr lang="en-US" b="true" sz="7135">
                <a:solidFill>
                  <a:srgbClr val="000000"/>
                </a:solidFill>
                <a:latin typeface="Times New Roman Bold"/>
                <a:ea typeface="Times New Roman Bold"/>
                <a:cs typeface="Times New Roman Bold"/>
                <a:sym typeface="Times New Roman Bold"/>
              </a:rPr>
              <a:t>PROJECT OUTPUT</a:t>
            </a:r>
          </a:p>
        </p:txBody>
      </p:sp>
      <p:sp>
        <p:nvSpPr>
          <p:cNvPr name="TextBox 8" id="8"/>
          <p:cNvSpPr txBox="true"/>
          <p:nvPr/>
        </p:nvSpPr>
        <p:spPr>
          <a:xfrm rot="0">
            <a:off x="483276" y="7296346"/>
            <a:ext cx="7933381" cy="1609725"/>
          </a:xfrm>
          <a:prstGeom prst="rect">
            <a:avLst/>
          </a:prstGeom>
        </p:spPr>
        <p:txBody>
          <a:bodyPr anchor="t" rtlCol="false" tIns="0" lIns="0" bIns="0" rIns="0">
            <a:spAutoFit/>
          </a:bodyPr>
          <a:lstStyle/>
          <a:p>
            <a:pPr algn="l">
              <a:lnSpc>
                <a:spcPts val="4200"/>
              </a:lnSpc>
              <a:spcBef>
                <a:spcPct val="0"/>
              </a:spcBef>
            </a:pPr>
            <a:r>
              <a:rPr lang="en-US" sz="3000">
                <a:solidFill>
                  <a:srgbClr val="000000"/>
                </a:solidFill>
                <a:latin typeface="Times New Roman"/>
                <a:ea typeface="Times New Roman"/>
                <a:cs typeface="Times New Roman"/>
                <a:sym typeface="Times New Roman"/>
              </a:rPr>
              <a:t>Fig no 01:-</a:t>
            </a:r>
            <a:r>
              <a:rPr lang="en-US" sz="3000">
                <a:solidFill>
                  <a:srgbClr val="000000"/>
                </a:solidFill>
                <a:latin typeface="Times New Roman"/>
                <a:ea typeface="Times New Roman"/>
                <a:cs typeface="Times New Roman"/>
                <a:sym typeface="Times New Roman"/>
              </a:rPr>
              <a:t>This image is a screenshot of the FaceFit Ultra AI Stylist software's "AI Profile" homepage in an initial state.</a:t>
            </a:r>
          </a:p>
        </p:txBody>
      </p:sp>
      <p:sp>
        <p:nvSpPr>
          <p:cNvPr name="TextBox 9" id="9"/>
          <p:cNvSpPr txBox="true"/>
          <p:nvPr/>
        </p:nvSpPr>
        <p:spPr>
          <a:xfrm rot="0">
            <a:off x="9500343" y="7296346"/>
            <a:ext cx="8416656" cy="1609725"/>
          </a:xfrm>
          <a:prstGeom prst="rect">
            <a:avLst/>
          </a:prstGeom>
        </p:spPr>
        <p:txBody>
          <a:bodyPr anchor="t" rtlCol="false" tIns="0" lIns="0" bIns="0" rIns="0">
            <a:spAutoFit/>
          </a:bodyPr>
          <a:lstStyle/>
          <a:p>
            <a:pPr algn="l">
              <a:lnSpc>
                <a:spcPts val="4200"/>
              </a:lnSpc>
              <a:spcBef>
                <a:spcPct val="0"/>
              </a:spcBef>
            </a:pPr>
            <a:r>
              <a:rPr lang="en-US" sz="3000">
                <a:solidFill>
                  <a:srgbClr val="000000"/>
                </a:solidFill>
                <a:latin typeface="Times New Roman"/>
                <a:ea typeface="Times New Roman"/>
                <a:cs typeface="Times New Roman"/>
                <a:sym typeface="Times New Roman"/>
              </a:rPr>
              <a:t>Fig no 02:-</a:t>
            </a:r>
            <a:r>
              <a:rPr lang="en-US" sz="3000">
                <a:solidFill>
                  <a:srgbClr val="000000"/>
                </a:solidFill>
                <a:latin typeface="Times New Roman"/>
                <a:ea typeface="Times New Roman"/>
                <a:cs typeface="Times New Roman"/>
                <a:sym typeface="Times New Roman"/>
              </a:rPr>
              <a:t>This image is a screenshot of the FaceFit Ultra AI Stylist software's "Hairstyles" recommendation feature.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67368" y="2357203"/>
            <a:ext cx="8228856" cy="4371580"/>
          </a:xfrm>
          <a:custGeom>
            <a:avLst/>
            <a:gdLst/>
            <a:ahLst/>
            <a:cxnLst/>
            <a:rect r="r" b="b" t="t" l="l"/>
            <a:pathLst>
              <a:path h="4371580" w="8228856">
                <a:moveTo>
                  <a:pt x="0" y="0"/>
                </a:moveTo>
                <a:lnTo>
                  <a:pt x="8228856" y="0"/>
                </a:lnTo>
                <a:lnTo>
                  <a:pt x="8228856" y="4371580"/>
                </a:lnTo>
                <a:lnTo>
                  <a:pt x="0" y="4371580"/>
                </a:lnTo>
                <a:lnTo>
                  <a:pt x="0" y="0"/>
                </a:lnTo>
                <a:close/>
              </a:path>
            </a:pathLst>
          </a:custGeom>
          <a:blipFill>
            <a:blip r:embed="rId5"/>
            <a:stretch>
              <a:fillRect l="0" t="0" r="0" b="0"/>
            </a:stretch>
          </a:blipFill>
        </p:spPr>
      </p:sp>
      <p:sp>
        <p:nvSpPr>
          <p:cNvPr name="Freeform 6" id="6"/>
          <p:cNvSpPr/>
          <p:nvPr/>
        </p:nvSpPr>
        <p:spPr>
          <a:xfrm flipH="false" flipV="false" rot="0">
            <a:off x="9553999" y="2467666"/>
            <a:ext cx="8020927" cy="4261117"/>
          </a:xfrm>
          <a:custGeom>
            <a:avLst/>
            <a:gdLst/>
            <a:ahLst/>
            <a:cxnLst/>
            <a:rect r="r" b="b" t="t" l="l"/>
            <a:pathLst>
              <a:path h="4261117" w="8020927">
                <a:moveTo>
                  <a:pt x="0" y="0"/>
                </a:moveTo>
                <a:lnTo>
                  <a:pt x="8020926" y="0"/>
                </a:lnTo>
                <a:lnTo>
                  <a:pt x="8020926" y="4261117"/>
                </a:lnTo>
                <a:lnTo>
                  <a:pt x="0" y="4261117"/>
                </a:lnTo>
                <a:lnTo>
                  <a:pt x="0" y="0"/>
                </a:lnTo>
                <a:close/>
              </a:path>
            </a:pathLst>
          </a:custGeom>
          <a:blipFill>
            <a:blip r:embed="rId6"/>
            <a:stretch>
              <a:fillRect l="0" t="0" r="0" b="0"/>
            </a:stretch>
          </a:blipFill>
        </p:spPr>
      </p:sp>
      <p:sp>
        <p:nvSpPr>
          <p:cNvPr name="TextBox 7" id="7"/>
          <p:cNvSpPr txBox="true"/>
          <p:nvPr/>
        </p:nvSpPr>
        <p:spPr>
          <a:xfrm rot="0">
            <a:off x="5252167" y="314453"/>
            <a:ext cx="8214866" cy="1257043"/>
          </a:xfrm>
          <a:prstGeom prst="rect">
            <a:avLst/>
          </a:prstGeom>
        </p:spPr>
        <p:txBody>
          <a:bodyPr anchor="t" rtlCol="false" tIns="0" lIns="0" bIns="0" rIns="0">
            <a:spAutoFit/>
          </a:bodyPr>
          <a:lstStyle/>
          <a:p>
            <a:pPr algn="ctr">
              <a:lnSpc>
                <a:spcPts val="9989"/>
              </a:lnSpc>
              <a:spcBef>
                <a:spcPct val="0"/>
              </a:spcBef>
            </a:pPr>
            <a:r>
              <a:rPr lang="en-US" b="true" sz="7135">
                <a:solidFill>
                  <a:srgbClr val="000000"/>
                </a:solidFill>
                <a:latin typeface="Times New Roman Bold"/>
                <a:ea typeface="Times New Roman Bold"/>
                <a:cs typeface="Times New Roman Bold"/>
                <a:sym typeface="Times New Roman Bold"/>
              </a:rPr>
              <a:t>PROJECT OUTPUT</a:t>
            </a:r>
          </a:p>
        </p:txBody>
      </p:sp>
      <p:sp>
        <p:nvSpPr>
          <p:cNvPr name="TextBox 8" id="8"/>
          <p:cNvSpPr txBox="true"/>
          <p:nvPr/>
        </p:nvSpPr>
        <p:spPr>
          <a:xfrm rot="0">
            <a:off x="567368" y="6847733"/>
            <a:ext cx="8149423" cy="1609725"/>
          </a:xfrm>
          <a:prstGeom prst="rect">
            <a:avLst/>
          </a:prstGeom>
        </p:spPr>
        <p:txBody>
          <a:bodyPr anchor="t" rtlCol="false" tIns="0" lIns="0" bIns="0" rIns="0">
            <a:spAutoFit/>
          </a:bodyPr>
          <a:lstStyle/>
          <a:p>
            <a:pPr algn="ctr">
              <a:lnSpc>
                <a:spcPts val="4200"/>
              </a:lnSpc>
              <a:spcBef>
                <a:spcPct val="0"/>
              </a:spcBef>
            </a:pPr>
            <a:r>
              <a:rPr lang="en-US" sz="3000">
                <a:solidFill>
                  <a:srgbClr val="000000"/>
                </a:solidFill>
                <a:latin typeface="Times New Roman"/>
                <a:ea typeface="Times New Roman"/>
                <a:cs typeface="Times New Roman"/>
                <a:sym typeface="Times New Roman"/>
              </a:rPr>
              <a:t>Fig no 03:-</a:t>
            </a:r>
            <a:r>
              <a:rPr lang="en-US" sz="3000">
                <a:solidFill>
                  <a:srgbClr val="000000"/>
                </a:solidFill>
                <a:latin typeface="Times New Roman"/>
                <a:ea typeface="Times New Roman"/>
                <a:cs typeface="Times New Roman"/>
                <a:sym typeface="Times New Roman"/>
              </a:rPr>
              <a:t>This image displays the output of the FaceFit Ultra AI Stylist software, showing a male model's photo alongside its AI Style Guide.</a:t>
            </a:r>
          </a:p>
        </p:txBody>
      </p:sp>
      <p:sp>
        <p:nvSpPr>
          <p:cNvPr name="TextBox 9" id="9"/>
          <p:cNvSpPr txBox="true"/>
          <p:nvPr/>
        </p:nvSpPr>
        <p:spPr>
          <a:xfrm rot="0">
            <a:off x="9885162" y="6759790"/>
            <a:ext cx="7011470" cy="1697668"/>
          </a:xfrm>
          <a:prstGeom prst="rect">
            <a:avLst/>
          </a:prstGeom>
        </p:spPr>
        <p:txBody>
          <a:bodyPr anchor="t" rtlCol="false" tIns="0" lIns="0" bIns="0" rIns="0">
            <a:spAutoFit/>
          </a:bodyPr>
          <a:lstStyle/>
          <a:p>
            <a:pPr algn="just">
              <a:lnSpc>
                <a:spcPts val="4442"/>
              </a:lnSpc>
              <a:spcBef>
                <a:spcPct val="0"/>
              </a:spcBef>
            </a:pPr>
            <a:r>
              <a:rPr lang="en-US" sz="3173">
                <a:solidFill>
                  <a:srgbClr val="000000"/>
                </a:solidFill>
                <a:latin typeface="Times New Roman"/>
                <a:ea typeface="Times New Roman"/>
                <a:cs typeface="Times New Roman"/>
                <a:sym typeface="Times New Roman"/>
              </a:rPr>
              <a:t>Fig no 04:-</a:t>
            </a:r>
            <a:r>
              <a:rPr lang="en-US" sz="3173">
                <a:solidFill>
                  <a:srgbClr val="000000"/>
                </a:solidFill>
                <a:latin typeface="Times New Roman"/>
                <a:ea typeface="Times New Roman"/>
                <a:cs typeface="Times New Roman"/>
                <a:sym typeface="Times New Roman"/>
              </a:rPr>
              <a:t>This image is a screenshot of the FaceFit Ultra AI Stylist software's "Try-On" feature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TextBox 3" id="3"/>
          <p:cNvSpPr txBox="true"/>
          <p:nvPr/>
        </p:nvSpPr>
        <p:spPr>
          <a:xfrm rot="0">
            <a:off x="5826383" y="314453"/>
            <a:ext cx="6142434" cy="1257043"/>
          </a:xfrm>
          <a:prstGeom prst="rect">
            <a:avLst/>
          </a:prstGeom>
        </p:spPr>
        <p:txBody>
          <a:bodyPr anchor="t" rtlCol="false" tIns="0" lIns="0" bIns="0" rIns="0">
            <a:spAutoFit/>
          </a:bodyPr>
          <a:lstStyle/>
          <a:p>
            <a:pPr algn="ctr">
              <a:lnSpc>
                <a:spcPts val="9989"/>
              </a:lnSpc>
              <a:spcBef>
                <a:spcPct val="0"/>
              </a:spcBef>
            </a:pPr>
            <a:r>
              <a:rPr lang="en-US" b="true" sz="7135">
                <a:solidFill>
                  <a:srgbClr val="000000"/>
                </a:solidFill>
                <a:latin typeface="Times New Roman Bold"/>
                <a:ea typeface="Times New Roman Bold"/>
                <a:cs typeface="Times New Roman Bold"/>
                <a:sym typeface="Times New Roman Bold"/>
              </a:rPr>
              <a:t>CONCLUSION</a:t>
            </a:r>
          </a:p>
        </p:txBody>
      </p:sp>
      <p:sp>
        <p:nvSpPr>
          <p:cNvPr name="TextBox 4" id="4"/>
          <p:cNvSpPr txBox="true"/>
          <p:nvPr/>
        </p:nvSpPr>
        <p:spPr>
          <a:xfrm rot="0">
            <a:off x="412942" y="1991509"/>
            <a:ext cx="17462117" cy="7488274"/>
          </a:xfrm>
          <a:prstGeom prst="rect">
            <a:avLst/>
          </a:prstGeom>
        </p:spPr>
        <p:txBody>
          <a:bodyPr anchor="t" rtlCol="false" tIns="0" lIns="0" bIns="0" rIns="0">
            <a:spAutoFit/>
          </a:bodyPr>
          <a:lstStyle/>
          <a:p>
            <a:pPr algn="l">
              <a:lnSpc>
                <a:spcPts val="4504"/>
              </a:lnSpc>
              <a:spcBef>
                <a:spcPct val="0"/>
              </a:spcBef>
            </a:pPr>
            <a:r>
              <a:rPr lang="en-US" sz="3217">
                <a:solidFill>
                  <a:srgbClr val="000000"/>
                </a:solidFill>
                <a:latin typeface="Times New Roman"/>
                <a:ea typeface="Times New Roman"/>
                <a:cs typeface="Times New Roman"/>
                <a:sym typeface="Times New Roman"/>
              </a:rPr>
              <a:t>The FaceFit project successfully achieved its objective of creating an intelligent personal stylist. By combining computer vision and machine learning, it provides a data-driven approach to style recommendations, moving beyond generic advice to offer personalized guidance.</a:t>
            </a:r>
          </a:p>
          <a:p>
            <a:pPr algn="l">
              <a:lnSpc>
                <a:spcPts val="4504"/>
              </a:lnSpc>
              <a:spcBef>
                <a:spcPct val="0"/>
              </a:spcBef>
            </a:pPr>
            <a:r>
              <a:rPr lang="en-US" sz="3217">
                <a:solidFill>
                  <a:srgbClr val="000000"/>
                </a:solidFill>
                <a:latin typeface="Times New Roman"/>
                <a:ea typeface="Times New Roman"/>
                <a:cs typeface="Times New Roman"/>
                <a:sym typeface="Times New Roman"/>
              </a:rPr>
              <a:t>There are several avenues for future enhancement:</a:t>
            </a:r>
          </a:p>
          <a:p>
            <a:pPr algn="l">
              <a:lnSpc>
                <a:spcPts val="4504"/>
              </a:lnSpc>
              <a:spcBef>
                <a:spcPct val="0"/>
              </a:spcBef>
            </a:pPr>
            <a:r>
              <a:rPr lang="en-US" sz="3217">
                <a:solidFill>
                  <a:srgbClr val="000000"/>
                </a:solidFill>
                <a:latin typeface="Times New Roman"/>
                <a:ea typeface="Times New Roman"/>
                <a:cs typeface="Times New Roman"/>
                <a:sym typeface="Times New Roman"/>
              </a:rPr>
              <a:t> </a:t>
            </a:r>
          </a:p>
          <a:p>
            <a:pPr algn="l" marL="715339" indent="-357670" lvl="1">
              <a:lnSpc>
                <a:spcPts val="4638"/>
              </a:lnSpc>
              <a:buFont typeface="Arial"/>
              <a:buChar char="•"/>
            </a:pPr>
            <a:r>
              <a:rPr lang="en-US" sz="3313">
                <a:solidFill>
                  <a:srgbClr val="000000"/>
                </a:solidFill>
                <a:latin typeface="Times New Roman"/>
                <a:ea typeface="Times New Roman"/>
                <a:cs typeface="Times New Roman"/>
                <a:sym typeface="Times New Roman"/>
              </a:rPr>
              <a:t>· Expanded Feature Set: Incorporating analysis of other features like skin tone, eye color, and hair type to provide even more comprehensive recommendations (e.g., makeup, clothing colors).</a:t>
            </a:r>
          </a:p>
          <a:p>
            <a:pPr algn="l" marL="715339" indent="-357670" lvl="1">
              <a:lnSpc>
                <a:spcPts val="4638"/>
              </a:lnSpc>
              <a:buFont typeface="Arial"/>
              <a:buChar char="•"/>
            </a:pPr>
            <a:r>
              <a:rPr lang="en-US" sz="3313">
                <a:solidFill>
                  <a:srgbClr val="000000"/>
                </a:solidFill>
                <a:latin typeface="Times New Roman"/>
                <a:ea typeface="Times New Roman"/>
                <a:cs typeface="Times New Roman"/>
                <a:sym typeface="Times New Roman"/>
              </a:rPr>
              <a:t>· Advanced Recommendation Models: Implementing a more sophisticated recommendation engine, perhaps using collaborative filtering or deep learning models trained on fashion datasets.</a:t>
            </a:r>
          </a:p>
          <a:p>
            <a:pPr algn="l" marL="715339" indent="-357670" lvl="1">
              <a:lnSpc>
                <a:spcPts val="4638"/>
              </a:lnSpc>
              <a:buFont typeface="Arial"/>
              <a:buChar char="•"/>
            </a:pPr>
            <a:r>
              <a:rPr lang="en-US" sz="3313">
                <a:solidFill>
                  <a:srgbClr val="000000"/>
                </a:solidFill>
                <a:latin typeface="Times New Roman"/>
                <a:ea typeface="Times New Roman"/>
                <a:cs typeface="Times New Roman"/>
                <a:sym typeface="Times New Roman"/>
              </a:rPr>
              <a:t>· Real-time Video Analysis: Modifying the application to work with a live video feed, providing real-time feedback and virtual try-on features for different hairstyles or glasses.</a:t>
            </a:r>
          </a:p>
          <a:p>
            <a:pPr algn="l" marL="715339" indent="-357670" lvl="1">
              <a:lnSpc>
                <a:spcPts val="4638"/>
              </a:lnSpc>
              <a:buFont typeface="Arial"/>
              <a:buChar char="•"/>
            </a:pPr>
            <a:r>
              <a:rPr lang="en-US" sz="3313">
                <a:solidFill>
                  <a:srgbClr val="000000"/>
                </a:solidFill>
                <a:latin typeface="Times New Roman"/>
                <a:ea typeface="Times New Roman"/>
                <a:cs typeface="Times New Roman"/>
                <a:sym typeface="Times New Roman"/>
              </a:rPr>
              <a:t>· Mobile Application: Developing a mobile version of FaceFit to make the tool more accessible to a wider audience.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TextBox 3" id="3"/>
          <p:cNvSpPr txBox="true"/>
          <p:nvPr/>
        </p:nvSpPr>
        <p:spPr>
          <a:xfrm rot="0">
            <a:off x="6097786" y="86449"/>
            <a:ext cx="6092428" cy="1257043"/>
          </a:xfrm>
          <a:prstGeom prst="rect">
            <a:avLst/>
          </a:prstGeom>
        </p:spPr>
        <p:txBody>
          <a:bodyPr anchor="t" rtlCol="false" tIns="0" lIns="0" bIns="0" rIns="0">
            <a:spAutoFit/>
          </a:bodyPr>
          <a:lstStyle/>
          <a:p>
            <a:pPr algn="ctr">
              <a:lnSpc>
                <a:spcPts val="9989"/>
              </a:lnSpc>
              <a:spcBef>
                <a:spcPct val="0"/>
              </a:spcBef>
            </a:pPr>
            <a:r>
              <a:rPr lang="en-US" b="true" sz="7135">
                <a:solidFill>
                  <a:srgbClr val="000000"/>
                </a:solidFill>
                <a:latin typeface="Times New Roman Bold"/>
                <a:ea typeface="Times New Roman Bold"/>
                <a:cs typeface="Times New Roman Bold"/>
                <a:sym typeface="Times New Roman Bold"/>
              </a:rPr>
              <a:t>REFERENCES</a:t>
            </a:r>
          </a:p>
        </p:txBody>
      </p:sp>
      <p:sp>
        <p:nvSpPr>
          <p:cNvPr name="TextBox 4" id="4"/>
          <p:cNvSpPr txBox="true"/>
          <p:nvPr/>
        </p:nvSpPr>
        <p:spPr>
          <a:xfrm rot="0">
            <a:off x="739201" y="1578483"/>
            <a:ext cx="16809598" cy="8708517"/>
          </a:xfrm>
          <a:prstGeom prst="rect">
            <a:avLst/>
          </a:prstGeom>
        </p:spPr>
        <p:txBody>
          <a:bodyPr anchor="t" rtlCol="false" tIns="0" lIns="0" bIns="0" rIns="0">
            <a:spAutoFit/>
          </a:bodyPr>
          <a:lstStyle/>
          <a:p>
            <a:pPr algn="l" marL="705993" indent="-352996" lvl="1">
              <a:lnSpc>
                <a:spcPts val="4578"/>
              </a:lnSpc>
              <a:buFont typeface="Arial"/>
              <a:buChar char="•"/>
            </a:pPr>
            <a:r>
              <a:rPr lang="en-US" sz="3270">
                <a:solidFill>
                  <a:srgbClr val="000000"/>
                </a:solidFill>
                <a:latin typeface="Times New Roman"/>
                <a:ea typeface="Times New Roman"/>
                <a:cs typeface="Times New Roman"/>
                <a:sym typeface="Times New Roman"/>
              </a:rPr>
              <a:t>Viola, P. and Jones, M. (2001). Rapid object detection using a boosted cascade of simple features. Computer Vision and Pattern Recognition, 2001. CVPR 2001.</a:t>
            </a:r>
          </a:p>
          <a:p>
            <a:pPr algn="l" marL="705993" indent="-352996" lvl="1">
              <a:lnSpc>
                <a:spcPts val="4578"/>
              </a:lnSpc>
              <a:buFont typeface="Arial"/>
              <a:buChar char="•"/>
            </a:pPr>
            <a:r>
              <a:rPr lang="en-US" sz="3270">
                <a:solidFill>
                  <a:srgbClr val="000000"/>
                </a:solidFill>
                <a:latin typeface="Times New Roman"/>
                <a:ea typeface="Times New Roman"/>
                <a:cs typeface="Times New Roman"/>
                <a:sym typeface="Times New Roman"/>
              </a:rPr>
              <a:t>Kazemi, V., &amp; Sullivan, J. (2014). One millisecond face alignment with an ensemble of regression trees. IEEE Conference on Computer Vision and Pattern Recognition (CVPR). (The basis for Dlib's shape predictor).</a:t>
            </a:r>
          </a:p>
          <a:p>
            <a:pPr algn="l" marL="705993" indent="-352996" lvl="1">
              <a:lnSpc>
                <a:spcPts val="4578"/>
              </a:lnSpc>
              <a:buFont typeface="Arial"/>
              <a:buChar char="•"/>
            </a:pPr>
            <a:r>
              <a:rPr lang="en-US" sz="3270">
                <a:solidFill>
                  <a:srgbClr val="000000"/>
                </a:solidFill>
                <a:latin typeface="Times New Roman"/>
                <a:ea typeface="Times New Roman"/>
                <a:cs typeface="Times New Roman"/>
                <a:sym typeface="Times New Roman"/>
              </a:rPr>
              <a:t>Bradski, G. (2000). The OpenCV Library. Dr. Dobb's Journal of Software Tools.</a:t>
            </a:r>
          </a:p>
          <a:p>
            <a:pPr algn="l" marL="705993" indent="-352996" lvl="1">
              <a:lnSpc>
                <a:spcPts val="4578"/>
              </a:lnSpc>
              <a:buFont typeface="Arial"/>
              <a:buChar char="•"/>
            </a:pPr>
            <a:r>
              <a:rPr lang="en-US" sz="3270">
                <a:solidFill>
                  <a:srgbClr val="000000"/>
                </a:solidFill>
                <a:latin typeface="Times New Roman"/>
                <a:ea typeface="Times New Roman"/>
                <a:cs typeface="Times New Roman"/>
                <a:sym typeface="Times New Roman"/>
              </a:rPr>
              <a:t>Standard Face Shape Classification Methods and Geometric Feature Extraction Techniques in Biometrics.</a:t>
            </a:r>
          </a:p>
          <a:p>
            <a:pPr algn="l" marL="705993" indent="-352996" lvl="1">
              <a:lnSpc>
                <a:spcPts val="4578"/>
              </a:lnSpc>
              <a:buFont typeface="Arial"/>
              <a:buChar char="•"/>
            </a:pPr>
            <a:r>
              <a:rPr lang="en-US" sz="3270">
                <a:solidFill>
                  <a:srgbClr val="000000"/>
                </a:solidFill>
                <a:latin typeface="Times New Roman"/>
                <a:ea typeface="Times New Roman"/>
                <a:cs typeface="Times New Roman"/>
                <a:sym typeface="Times New Roman"/>
              </a:rPr>
              <a:t>Python Libraries: Dlib Documentation, OpenCV Documentation, Scikit-learn Documentation, Tkinter Reference.</a:t>
            </a:r>
          </a:p>
          <a:p>
            <a:pPr algn="l" marL="705993" indent="-352996" lvl="1">
              <a:lnSpc>
                <a:spcPts val="4578"/>
              </a:lnSpc>
              <a:buFont typeface="Arial"/>
              <a:buChar char="•"/>
            </a:pPr>
            <a:r>
              <a:rPr lang="en-US" sz="3270" u="sng">
                <a:solidFill>
                  <a:srgbClr val="000000"/>
                </a:solidFill>
                <a:latin typeface="Times New Roman"/>
                <a:ea typeface="Times New Roman"/>
                <a:cs typeface="Times New Roman"/>
                <a:sym typeface="Times New Roman"/>
                <a:hlinkClick r:id="rId3" tooltip="https://www.youtube.com/watch?v=swSp8ksR2Q"/>
              </a:rPr>
              <a:t>https://www.youtube.com/watch?v=swSp8ksR2Q</a:t>
            </a:r>
          </a:p>
          <a:p>
            <a:pPr algn="l" marL="705993" indent="-352996" lvl="1">
              <a:lnSpc>
                <a:spcPts val="4578"/>
              </a:lnSpc>
              <a:buFont typeface="Arial"/>
              <a:buChar char="•"/>
            </a:pPr>
            <a:r>
              <a:rPr lang="en-US" sz="3270" u="sng">
                <a:solidFill>
                  <a:srgbClr val="000000"/>
                </a:solidFill>
                <a:latin typeface="Times New Roman"/>
                <a:ea typeface="Times New Roman"/>
                <a:cs typeface="Times New Roman"/>
                <a:sym typeface="Times New Roman"/>
                <a:hlinkClick r:id="rId4" tooltip="https://www.youtube.com/watch?v=VjDsJ2piXg8"/>
              </a:rPr>
              <a:t>https://www.youtube.com/watch?v=VjDsJ2piXg8</a:t>
            </a:r>
          </a:p>
          <a:p>
            <a:pPr algn="l" marL="705993" indent="-352996" lvl="1">
              <a:lnSpc>
                <a:spcPts val="4578"/>
              </a:lnSpc>
              <a:buFont typeface="Arial"/>
              <a:buChar char="•"/>
            </a:pPr>
            <a:r>
              <a:rPr lang="en-US" sz="3270" u="sng">
                <a:solidFill>
                  <a:srgbClr val="000000"/>
                </a:solidFill>
                <a:latin typeface="Times New Roman"/>
                <a:ea typeface="Times New Roman"/>
                <a:cs typeface="Times New Roman"/>
                <a:sym typeface="Times New Roman"/>
                <a:hlinkClick r:id="rId5" tooltip="https://www.youtube.com/watch?v=azvA2Bn2aXw"/>
              </a:rPr>
              <a:t>https://www.youtube.com/watch?v=azvA2Bn2aXw</a:t>
            </a:r>
          </a:p>
          <a:p>
            <a:pPr algn="l" marL="705993" indent="-352996" lvl="1">
              <a:lnSpc>
                <a:spcPts val="4578"/>
              </a:lnSpc>
              <a:buFont typeface="Arial"/>
              <a:buChar char="•"/>
            </a:pPr>
            <a:r>
              <a:rPr lang="en-US" sz="3270" u="sng">
                <a:solidFill>
                  <a:srgbClr val="000000"/>
                </a:solidFill>
                <a:latin typeface="Times New Roman"/>
                <a:ea typeface="Times New Roman"/>
                <a:cs typeface="Times New Roman"/>
                <a:sym typeface="Times New Roman"/>
                <a:hlinkClick r:id="rId6" tooltip="https://www.youtube.com/watch?v=C94pTaKoLbU"/>
              </a:rPr>
              <a:t>https://www.youtube.com/watch?v=C94pTaKoLbU</a:t>
            </a:r>
          </a:p>
          <a:p>
            <a:pPr algn="l">
              <a:lnSpc>
                <a:spcPts val="4578"/>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DAG3RYYuABk</dc:identifier>
  <dcterms:modified xsi:type="dcterms:W3CDTF">2011-08-01T06:04:30Z</dcterms:modified>
  <cp:revision>1</cp:revision>
  <dc:title>Blue Modern Elegant Presentation</dc:title>
</cp:coreProperties>
</file>